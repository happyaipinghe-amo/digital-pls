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65" r:id="rId2"/>
    <p:sldId id="266" r:id="rId3"/>
    <p:sldId id="267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0"/>
  </p:normalViewPr>
  <p:slideViewPr>
    <p:cSldViewPr snapToGrid="0">
      <p:cViewPr varScale="1">
        <p:scale>
          <a:sx n="87" d="100"/>
          <a:sy n="87" d="100"/>
        </p:scale>
        <p:origin x="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建议用时：2分钟。</a:t>
            </a:r>
          </a:p>
          <a:p>
            <a:endParaRPr/>
          </a:p>
          <a:p>
            <a:r>
              <a:t>从患者第一次接触医院开始讲起。患者可能来自公众号、社区科普、线上客服或亲友介绍。院外传播会影响患者对术后的期待，因此真实、合规的信息也是诊疗体系的一部分。市场和客服可以了解困扰，不能在没有检查时判断适合某种手术或晶体。请学员关注院外信息能否传到接待团队，避免重复询问和前后说法不一致。</a:t>
            </a:r>
          </a:p>
          <a:p>
            <a:endParaRPr/>
          </a:p>
          <a:p>
            <a:r>
              <a:t>交接检查：交给接待团队：患者来源、主要困扰、预约及已沟通内容。</a:t>
            </a:r>
          </a:p>
          <a:p>
            <a:r>
              <a:t>互动问题：患者到院后，是否需要把告诉客服的话重新讲一遍？</a:t>
            </a:r>
          </a:p>
          <a:p>
            <a:r>
              <a:t>责任边界：不要在院外替患者预选晶体或确定支付路径。</a:t>
            </a:r>
          </a:p>
          <a:p>
            <a:endParaRPr/>
          </a:p>
          <a:p>
            <a:r>
              <a:t>内容依据：用户确认的九环节定义与讲解稿；网站app.js中的九环节顺序。插图为已生成的患者旅程示意图局部，属于示意插画，并非真实诊疗照片。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建议用时：2分钟。</a:t>
            </a:r>
          </a:p>
          <a:p>
            <a:endParaRPr/>
          </a:p>
          <a:p>
            <a:r>
              <a:t>解释图中的到院分流：这是就诊流程的安排，不是前台判断患者应该花多少钱。年龄、职业、衣着和支付意愿都不能替代医生评估。前台和护士识别问题后，在权限范围内及时交接给医疗人员。用一个问题引导讨论：患者知道下一站在哪里、找谁吗？这一站的质量体现在信息准确、异常被识别、患者不迷路。</a:t>
            </a:r>
          </a:p>
          <a:p>
            <a:endParaRPr/>
          </a:p>
          <a:p>
            <a:r>
              <a:t>交接检查：交给评估团队：准确身份、主要诉求及需优先处理的问题。</a:t>
            </a:r>
          </a:p>
          <a:p>
            <a:r>
              <a:t>互动问题：前台依据什么分流？是否把支付意愿误当成医学适合？</a:t>
            </a:r>
          </a:p>
          <a:p>
            <a:r>
              <a:t>责任边界：此处为初步流程分流，不按穿着、职业或支付能力定路径。</a:t>
            </a:r>
          </a:p>
          <a:p>
            <a:endParaRPr/>
          </a:p>
          <a:p>
            <a:r>
              <a:t>内容依据：用户确认的九环节定义与讲解稿；网站app.js中的九环节顺序。插图为已生成的患者旅程示意图局部，属于示意插画，并非真实诊疗照片。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建议用时：2分钟。</a:t>
            </a:r>
          </a:p>
          <a:p>
            <a:endParaRPr/>
          </a:p>
          <a:p>
            <a:r>
              <a:t>同样一句想看清楚，可能代表看手机、驾驶或长时间电脑工作的不同需要。咨询师要把这些需要记录为具体信息，而不是只给患者贴高意向标签。戴镜接受度和最担心的问题同样重要。访谈不是让患者顺着某个产品答案作选择。医生需要结合检查判断哪些目标有实现可能。请学员思考，医院现有问卷是否真正成为医生决策输入。</a:t>
            </a:r>
          </a:p>
          <a:p>
            <a:endParaRPr/>
          </a:p>
          <a:p>
            <a:r>
              <a:t>交接检查：交给医生：主要视觉任务、顾虑、预期及需进一步澄清的问题。</a:t>
            </a:r>
          </a:p>
          <a:p>
            <a:r>
              <a:t>互动问题：医生面诊前，能否快速看到患者最重要的视觉需求？</a:t>
            </a:r>
          </a:p>
          <a:p>
            <a:r>
              <a:t>责任边界：需求访谈不引导购买；患者愿望不能直接成为效果承诺。</a:t>
            </a:r>
          </a:p>
          <a:p>
            <a:endParaRPr/>
          </a:p>
          <a:p>
            <a:r>
              <a:t>内容依据：用户确认的九环节定义与讲解稿；网站app.js中的九环节顺序。插图为已生成的患者旅程示意图局部，属于示意插画，并非真实诊疗照片。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建议用时：2分钟。</a:t>
            </a:r>
          </a:p>
          <a:p>
            <a:endParaRPr/>
          </a:p>
          <a:p>
            <a:r>
              <a:t>这一页帮助一线同事从看设备清单转向看工作过程。具体检查由临床需要决定，不能机械给每位患者同一套餐。设备要有胜任的人员、数据质控和异常处理机制。发现眼表不稳定或测量不一致时，应交医生判断如何处理，不能只为了尽快出方案而忽略。拜访中可以观察报告是否完整，医生是否方便调用，复测及异常是否有人追踪。</a:t>
            </a:r>
          </a:p>
          <a:p>
            <a:endParaRPr/>
          </a:p>
          <a:p>
            <a:r>
              <a:t>交接检查：交给医生：可靠报告、质量疑点和尚未解决的异常。</a:t>
            </a:r>
          </a:p>
          <a:p>
            <a:r>
              <a:t>互动问题：数据不一致时谁决定复测？谁追踪异常是否得到处理？</a:t>
            </a:r>
          </a:p>
          <a:p>
            <a:r>
              <a:t>责任边界：设备齐全不等于检查可靠；做完检查不等于可以手术。</a:t>
            </a:r>
          </a:p>
          <a:p>
            <a:endParaRPr/>
          </a:p>
          <a:p>
            <a:r>
              <a:t>内容依据：用户确认的九环节定义与讲解稿；网站app.js中的九环节顺序。插图为已生成的患者旅程示意图局部，属于示意插画，并非真实诊疗照片。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建议用时：2分钟。</a:t>
            </a:r>
          </a:p>
          <a:p>
            <a:endParaRPr/>
          </a:p>
          <a:p>
            <a:r>
              <a:t>这一步将前面两类信息合并：检查说明眼部条件，访谈说明患者需求。医生判断是否适合手术，有哪些合理选择，哪些目标受到限制。MDT用于处理跨专业复杂问题，不应模糊临床责任。交接不能只有让患者自己选一句话，应说明推荐理由和风险边界。进入下一步之前，医学可行性必须明确，患者仍然需要充分理解并自主决定。</a:t>
            </a:r>
          </a:p>
          <a:p>
            <a:endParaRPr/>
          </a:p>
          <a:p>
            <a:r>
              <a:t>交接检查：交给沟通团队：明确的临床意见、方案边界及待确认事项。</a:t>
            </a:r>
          </a:p>
          <a:p>
            <a:r>
              <a:t>互动问题：医生给出的方案，是否同时回应了检查结果和生活需求？</a:t>
            </a:r>
          </a:p>
          <a:p>
            <a:r>
              <a:t>责任边界：咨询师和销售均不能替医生确定适应证、晶体或手术方案。</a:t>
            </a:r>
          </a:p>
          <a:p>
            <a:endParaRPr/>
          </a:p>
          <a:p>
            <a:r>
              <a:t>内容依据：用户确认的九环节定义与讲解稿；网站app.js中的九环节顺序。插图为已生成的患者旅程示意图局部，属于示意插画，并非真实诊疗照片。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建议用时：2分钟。</a:t>
            </a:r>
          </a:p>
          <a:p>
            <a:endParaRPr/>
          </a:p>
          <a:p>
            <a:r>
              <a:t>重点解释第五到第六步之间的路径确认闸门。先有医生对医学可行性的判断，再有充分告知和患者自主选择。患者愿意付钱并不代表通过闸门。实际医保属性和费用需要专业岗位核实，家属在患者认可下参与支持，不能替代有决策能力患者本人。可以请患者复述手术目标、主要局限和替代方案。如果仍误解，就继续沟通。两条路径共享安全与质量底线。</a:t>
            </a:r>
          </a:p>
          <a:p>
            <a:endParaRPr/>
          </a:p>
          <a:p>
            <a:r>
              <a:t>交接检查：交给手术团队：已确认方案、患者选择及完整沟通记录。</a:t>
            </a:r>
          </a:p>
          <a:p>
            <a:r>
              <a:t>互动问题：如果患者仍相信“贵就保证脱镜”，团队会继续解释吗？</a:t>
            </a:r>
          </a:p>
          <a:p>
            <a:r>
              <a:t>责任边界：标准路径、PLS路径或暂缓决定均可合理；签字不能替代理解。</a:t>
            </a:r>
          </a:p>
          <a:p>
            <a:endParaRPr/>
          </a:p>
          <a:p>
            <a:r>
              <a:t>内容依据：用户确认的九环节定义与讲解稿；网站app.js中的九环节顺序。插图为已生成的患者旅程示意图局部，属于示意插画，并非真实诊疗照片。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建议用时：2分钟。</a:t>
            </a:r>
          </a:p>
          <a:p>
            <a:endParaRPr/>
          </a:p>
          <a:p>
            <a:r>
              <a:t>手术执行不只是手术室里的一段操作。术前要把方案、检查和关键物资准确接到手术团队，按规范完成核查。若方案变更，须按医院制度重新确认、沟通并记录。术后观察与出院指导也是本环节内容。患者应知道如何用药、何时复诊、何种情况需要及时就医及联系谁。随访团队接到的应是实际手术和医嘱信息，而非仅一个已完成标记。</a:t>
            </a:r>
          </a:p>
          <a:p>
            <a:endParaRPr/>
          </a:p>
          <a:p>
            <a:r>
              <a:t>交接检查：交给随访团队：实际手术情况、医嘱与后续观察重点。</a:t>
            </a:r>
          </a:p>
          <a:p>
            <a:r>
              <a:t>互动问题：手术方案变更后，谁负责重新确认并通知相关岗位？</a:t>
            </a:r>
          </a:p>
          <a:p>
            <a:r>
              <a:t>责任边界：出院教育属于本环节；不能依靠口头传递关键手术信息。</a:t>
            </a:r>
          </a:p>
          <a:p>
            <a:endParaRPr/>
          </a:p>
          <a:p>
            <a:r>
              <a:t>内容依据：用户确认的九环节定义与讲解稿；网站app.js中的九环节顺序。插图为已生成的患者旅程示意图局部，属于示意插画，并非真实诊疗照片。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建议用时：2分钟。</a:t>
            </a:r>
          </a:p>
          <a:p>
            <a:endParaRPr/>
          </a:p>
          <a:p>
            <a:r>
              <a:t>随访既关注恢复，也需要了解患者在阅读、驾驶等具体任务中的体验。患者主诉与检查指标不一致时，不应否认困扰。光晕、眩光或看不清要先由医疗团队评估是否存在可处理原因，再确定观察、支持或其他处理。护士和咨询师倾听、记录、追踪，医生负责诊断和处理方案。投诉涉及医学、服务及收费时，应由相应岗位协同，不能互相替代。</a:t>
            </a:r>
          </a:p>
          <a:p>
            <a:endParaRPr/>
          </a:p>
          <a:p>
            <a:r>
              <a:t>交接检查：交给质量团队：结局、主诉、处理经过及未解决问题。</a:t>
            </a:r>
          </a:p>
          <a:p>
            <a:r>
              <a:t>互动问题：患者出现光晕或视物不清时，能否找到明确的临床责任人？</a:t>
            </a:r>
          </a:p>
          <a:p>
            <a:r>
              <a:t>责任边界：不能未经评估就归因于神经适应；医学与费用争议分别处理。</a:t>
            </a:r>
          </a:p>
          <a:p>
            <a:endParaRPr/>
          </a:p>
          <a:p>
            <a:r>
              <a:t>内容依据：用户确认的九环节定义与讲解稿；网站app.js中的九环节顺序。插图为已生成的患者旅程示意图局部，属于示意插画，并非真实诊疗照片。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建议用时：2分钟。</a:t>
            </a:r>
          </a:p>
          <a:p>
            <a:endParaRPr/>
          </a:p>
          <a:p>
            <a:r>
              <a:t>持续改进是医院从做成个别病例走向稳定团队能力的关键。管理层需要看问题是否重复，原因在筛查、沟通、费用解释还是交接。正向结果也应总结为可重复的工作方法。PLS团队可以协助研讨、提供审核工具和培训、追踪约定行动，但不能替医院管理或替医生决策。培训结束时，请学员选一个真实流程断点，说明改什么、谁负责、何时完成、用什么记录验证。</a:t>
            </a:r>
          </a:p>
          <a:p>
            <a:endParaRPr/>
          </a:p>
          <a:p>
            <a:r>
              <a:t>交接检查：回到全流程：用改进后的标准支持后续患者与长期管理。</a:t>
            </a:r>
          </a:p>
          <a:p>
            <a:r>
              <a:t>互动问题：同类问题反复出现后，医院是否改变了流程并验证效果？</a:t>
            </a:r>
          </a:p>
          <a:p>
            <a:r>
              <a:t>责任边界：同时看质量、体验与经营；不能只用收入或某类IOL占比评价。</a:t>
            </a:r>
          </a:p>
          <a:p>
            <a:endParaRPr/>
          </a:p>
          <a:p>
            <a:r>
              <a:t>内容依据：用户确认的九环节定义与讲解稿；网站app.js中的九环节顺序。插图为已生成的患者旅程示意图局部，属于示意插画，并非真实诊疗照片。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B240A2-132F-45E4-BEE7-9409EA979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1A3FE88-DE5D-4354-9AC4-87AAF6FA8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E77D905-2046-484C-A7E3-446DCD883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A023507-AD36-4451-BDDA-9F501C425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C23A599F-398F-4E1D-B1F8-026D8B2E5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C4CA517-4070-49ED-83DB-04EAB9076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84EA91F-6D58-483C-B58E-CF93B5ED5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BC5DE1E-D1DA-4C33-A12B-ADCA3EBDA6D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27CDCC3-AB19-4A1A-A9C2-27D6AA293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996F6FC-E04B-4492-9A25-4FE8F45D3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F3BA1DA-B49E-7092-0D20-F305DA681C2B}"/>
              </a:ext>
            </a:extLst>
          </p:cNvPr>
          <p:cNvSpPr txBox="1"/>
          <p:nvPr/>
        </p:nvSpPr>
        <p:spPr>
          <a:xfrm>
            <a:off x="1258529" y="1769806"/>
            <a:ext cx="96749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dirty="0"/>
              <a:t>PLS</a:t>
            </a:r>
            <a:r>
              <a:rPr kumimoji="1" lang="zh-CN" altLang="en-US" sz="6000" dirty="0"/>
              <a:t>医院的患者旅程九环节</a:t>
            </a:r>
            <a:endParaRPr kumimoji="1" lang="en-US" altLang="zh-CN" sz="6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A7988D-A92C-809D-8389-8E7CC04D6DD3}"/>
              </a:ext>
            </a:extLst>
          </p:cNvPr>
          <p:cNvSpPr txBox="1"/>
          <p:nvPr/>
        </p:nvSpPr>
        <p:spPr>
          <a:xfrm>
            <a:off x="2703871" y="3244334"/>
            <a:ext cx="67842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solidFill>
                  <a:srgbClr val="C00000"/>
                </a:solidFill>
              </a:rPr>
              <a:t>——</a:t>
            </a:r>
            <a:r>
              <a:rPr kumimoji="1" lang="zh-CN" altLang="en-US" sz="2800" dirty="0">
                <a:solidFill>
                  <a:srgbClr val="C00000"/>
                </a:solidFill>
              </a:rPr>
              <a:t> 以患者的视觉精准度和体验满意度为中心的</a:t>
            </a:r>
            <a:r>
              <a:rPr kumimoji="1" lang="en-US" altLang="zh-CN" sz="2800" dirty="0">
                <a:solidFill>
                  <a:srgbClr val="C00000"/>
                </a:solidFill>
              </a:rPr>
              <a:t>PLS</a:t>
            </a:r>
            <a:r>
              <a:rPr kumimoji="1" lang="zh-CN" altLang="en-US" sz="2800" dirty="0">
                <a:solidFill>
                  <a:srgbClr val="C00000"/>
                </a:solidFill>
              </a:rPr>
              <a:t>专业能力建设</a:t>
            </a:r>
          </a:p>
        </p:txBody>
      </p:sp>
    </p:spTree>
    <p:extLst>
      <p:ext uri="{BB962C8B-B14F-4D97-AF65-F5344CB8AC3E}">
        <p14:creationId xmlns:p14="http://schemas.microsoft.com/office/powerpoint/2010/main" val="1437687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826737-F7DC-F807-B77E-4854BBD41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E01096-9D6E-1D9F-AD03-E607A0801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晶体和设备</a:t>
            </a:r>
            <a:r>
              <a:rPr lang="en-US" altLang="zh-CN" dirty="0"/>
              <a:t>Odyssey</a:t>
            </a:r>
            <a:r>
              <a:rPr lang="zh-CN" altLang="en-US" dirty="0"/>
              <a:t>、</a:t>
            </a:r>
            <a:r>
              <a:rPr lang="en-US" altLang="zh-CN" dirty="0" err="1"/>
              <a:t>PureSee</a:t>
            </a:r>
            <a:r>
              <a:rPr lang="zh-CN" altLang="en-US" dirty="0"/>
              <a:t>、</a:t>
            </a:r>
            <a:r>
              <a:rPr lang="en-US" altLang="zh-CN" dirty="0" err="1"/>
              <a:t>Catalys</a:t>
            </a:r>
            <a:r>
              <a:rPr lang="zh-CN" altLang="en-US" dirty="0"/>
              <a:t>奥德赛、臻无级和白力士想在一家医院能持续地、稳定地、令人满意地为更多患者服务，需要协助该院建立以患者为中心的</a:t>
            </a:r>
            <a:r>
              <a:rPr lang="en-US" altLang="zh-CN" dirty="0"/>
              <a:t>PLS</a:t>
            </a:r>
            <a:r>
              <a:rPr lang="zh-CN" altLang="en-US" dirty="0"/>
              <a:t>卓越晶体诊疗体系。</a:t>
            </a:r>
          </a:p>
        </p:txBody>
      </p:sp>
    </p:spTree>
    <p:extLst>
      <p:ext uri="{BB962C8B-B14F-4D97-AF65-F5344CB8AC3E}">
        <p14:creationId xmlns:p14="http://schemas.microsoft.com/office/powerpoint/2010/main" val="3848202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771590-8C52-BF30-FC6F-4A79B8B44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本次学习目标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E4852B-E1CE-DF06-0C06-88B7BB8A0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zh-CN" dirty="0"/>
              <a:t>通过本次培训，希望一线销售能够：</a:t>
            </a:r>
          </a:p>
          <a:p>
            <a:pPr marL="762000" lvl="1" indent="-457200">
              <a:buFont typeface="+mj-lt"/>
              <a:buAutoNum type="arabicPeriod"/>
            </a:pPr>
            <a:r>
              <a:rPr lang="zh-CN" altLang="zh-CN" b="1" dirty="0"/>
              <a:t>讲清患者全流程</a:t>
            </a:r>
            <a:r>
              <a:rPr lang="zh-CN" altLang="zh-CN" dirty="0"/>
              <a:t>：理解从院外引流到持续改进的九个环节，能向院长</a:t>
            </a:r>
            <a:r>
              <a:rPr lang="en-US" altLang="zh-CN" dirty="0"/>
              <a:t>CEO</a:t>
            </a:r>
            <a:r>
              <a:rPr lang="zh-CN" altLang="en-US" dirty="0"/>
              <a:t>讲清</a:t>
            </a:r>
            <a:r>
              <a:rPr lang="zh-CN" altLang="zh-CN" dirty="0"/>
              <a:t>各环节的作用及联系。</a:t>
            </a:r>
          </a:p>
          <a:p>
            <a:pPr marL="762000" lvl="1" indent="-457200">
              <a:buFont typeface="+mj-lt"/>
              <a:buAutoNum type="arabicPeriod"/>
            </a:pPr>
            <a:r>
              <a:rPr lang="zh-CN" altLang="zh-CN" b="1" dirty="0"/>
              <a:t>看懂岗位与交接</a:t>
            </a:r>
            <a:r>
              <a:rPr lang="zh-CN" altLang="zh-CN" dirty="0"/>
              <a:t>：识别各岗位的职责、所需信息和交接要求，守住销售支持与临床决策的边界。</a:t>
            </a:r>
          </a:p>
          <a:p>
            <a:pPr marL="762000" lvl="1" indent="-457200">
              <a:buFont typeface="+mj-lt"/>
              <a:buAutoNum type="arabicPeriod"/>
            </a:pPr>
            <a:r>
              <a:rPr lang="zh-CN" altLang="zh-CN" b="1" dirty="0"/>
              <a:t>发现医院能力差距</a:t>
            </a:r>
            <a:r>
              <a:rPr lang="zh-CN" altLang="zh-CN" dirty="0"/>
              <a:t>：运用流程图提问和观察，发现患者体验、检查质量、知情选择及随访中的流程断点。</a:t>
            </a:r>
          </a:p>
          <a:p>
            <a:pPr marL="762000" lvl="1" indent="-457200">
              <a:buFont typeface="+mj-lt"/>
              <a:buAutoNum type="arabicPeriod"/>
            </a:pPr>
            <a:r>
              <a:rPr lang="zh-CN" altLang="zh-CN" b="1" dirty="0"/>
              <a:t>推动具体改进行动</a:t>
            </a:r>
            <a:r>
              <a:rPr lang="zh-CN" altLang="zh-CN" dirty="0"/>
              <a:t>：与院方共同确定改进</a:t>
            </a:r>
            <a:r>
              <a:rPr lang="zh-CN" altLang="en-US" dirty="0"/>
              <a:t>的</a:t>
            </a:r>
            <a:r>
              <a:rPr lang="zh-CN" altLang="zh-CN" dirty="0"/>
              <a:t>重点，明确负责人、完成时间和验证方式，协调培训与工具支持并跟进复盘。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3132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0E60A255-20ED-4B88-A4CB-6A03254E1FDD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9048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01  引流／预约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60ECD51-AB4A-4E7A-8C25-99708A47D211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10763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患者到院前，信任与预期已经开始形成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A1A689-62D9-4DEB-B64E-3472103D5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308699"/>
            <a:ext cx="1381125" cy="55417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A5B2C07-3C45-4EC0-BAE4-4DF3C17E3187}"/>
              </a:ext>
            </a:extLst>
          </p:cNvPr>
          <p:cNvSpPr>
            <a:spLocks noGrp="1"/>
          </p:cNvSpPr>
          <p:nvPr/>
        </p:nvSpPr>
        <p:spPr>
          <a:xfrm>
            <a:off x="552450" y="168592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主要工作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CAFF42-3946-4E61-B319-84A24017D501}"/>
              </a:ext>
            </a:extLst>
          </p:cNvPr>
          <p:cNvSpPr>
            <a:spLocks noGrp="1"/>
          </p:cNvSpPr>
          <p:nvPr/>
        </p:nvSpPr>
        <p:spPr>
          <a:xfrm>
            <a:off x="552450" y="21526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1. 通过院外科普、社区活动和线上咨询接触患者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37B486-F599-4976-8341-72F791F51DF9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2. 了解初步诉求，安排预约并记录前期沟通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4666FF-F703-484A-A9BA-8156874FF92F}"/>
              </a:ext>
            </a:extLst>
          </p:cNvPr>
          <p:cNvSpPr>
            <a:spLocks noGrp="1"/>
          </p:cNvSpPr>
          <p:nvPr/>
        </p:nvSpPr>
        <p:spPr>
          <a:xfrm>
            <a:off x="552450" y="32956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3. 宣传内容经过审核，不预先承诺手术效果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DE3E7E-8C46-4F3E-9D22-EA0C746837A9}"/>
              </a:ext>
            </a:extLst>
          </p:cNvPr>
          <p:cNvSpPr>
            <a:spLocks noGrp="1"/>
          </p:cNvSpPr>
          <p:nvPr/>
        </p:nvSpPr>
        <p:spPr>
          <a:xfrm>
            <a:off x="552450" y="3962400"/>
            <a:ext cx="5572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负责角色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C688E0-4E0D-4E88-B834-699BDD1D4E2F}"/>
              </a:ext>
            </a:extLst>
          </p:cNvPr>
          <p:cNvSpPr>
            <a:spLocks noGrp="1"/>
          </p:cNvSpPr>
          <p:nvPr/>
        </p:nvSpPr>
        <p:spPr>
          <a:xfrm>
            <a:off x="552450" y="430530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市场、客服、PLS团队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9BF5F3E-3ED6-4A16-B849-680B2BDAFB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15" t="12540" r="66687" b="66206"/>
          <a:stretch/>
        </p:blipFill>
        <p:spPr>
          <a:xfrm>
            <a:off x="6572250" y="1714500"/>
            <a:ext cx="5048250" cy="204787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0DE66CB-6B21-4D15-A582-DAB7DC4A5FC1}"/>
              </a:ext>
            </a:extLst>
          </p:cNvPr>
          <p:cNvSpPr>
            <a:spLocks noGrp="1"/>
          </p:cNvSpPr>
          <p:nvPr/>
        </p:nvSpPr>
        <p:spPr>
          <a:xfrm>
            <a:off x="6619875" y="4019550"/>
            <a:ext cx="5000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一线拜访观察问题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5AB59B7-8842-4971-BBAA-2880254AC3F7}"/>
              </a:ext>
            </a:extLst>
          </p:cNvPr>
          <p:cNvSpPr>
            <a:spLocks noGrp="1"/>
          </p:cNvSpPr>
          <p:nvPr/>
        </p:nvSpPr>
        <p:spPr>
          <a:xfrm>
            <a:off x="6619875" y="4429125"/>
            <a:ext cx="4953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患者到院后，是否需要把告诉客服的话重新讲一遍？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2FB39EA-7DCA-48B2-A010-45280F219151}"/>
              </a:ext>
            </a:extLst>
          </p:cNvPr>
          <p:cNvSpPr>
            <a:spLocks noGrp="1"/>
          </p:cNvSpPr>
          <p:nvPr/>
        </p:nvSpPr>
        <p:spPr>
          <a:xfrm>
            <a:off x="552450" y="5314950"/>
            <a:ext cx="11001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交给接待团队：患者来源、主要困扰、预约及已沟通内容。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EBAB15B-49C8-4C38-8267-82E5D92B8912}"/>
              </a:ext>
            </a:extLst>
          </p:cNvPr>
          <p:cNvSpPr>
            <a:spLocks noGrp="1"/>
          </p:cNvSpPr>
          <p:nvPr/>
        </p:nvSpPr>
        <p:spPr>
          <a:xfrm>
            <a:off x="552450" y="5981700"/>
            <a:ext cx="110013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rPr>
              <a:t>不要在院外替患者预选晶体或确定支付路径。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6FFC03-245B-47CC-9320-A2B3AB9B44FF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1076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rPr>
              <a:t>PLS医院患者全流程旅程  1/9</a:t>
            </a:r>
          </a:p>
        </p:txBody>
      </p:sp>
    </p:spTree>
    <p:extLst>
      <p:ext uri="{BB962C8B-B14F-4D97-AF65-F5344CB8AC3E}">
        <p14:creationId xmlns:p14="http://schemas.microsoft.com/office/powerpoint/2010/main" val="1904566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6EE805D9-D661-4576-B4BF-D971A268ADFE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9048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02  到院分流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5F560C3-CF39-4DC1-B9DB-D27422BD0592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10763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先安排正确流程，再逐步确认诊疗路径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0AC185E-4125-471B-B892-01EBD8E85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308699"/>
            <a:ext cx="1381125" cy="55417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9D50720-5E94-4B73-BFA5-5A977B1E9F52}"/>
              </a:ext>
            </a:extLst>
          </p:cNvPr>
          <p:cNvSpPr>
            <a:spLocks noGrp="1"/>
          </p:cNvSpPr>
          <p:nvPr/>
        </p:nvSpPr>
        <p:spPr>
          <a:xfrm>
            <a:off x="552450" y="168592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主要工作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1A18FB-52A7-4535-8D32-CC2B8E763855}"/>
              </a:ext>
            </a:extLst>
          </p:cNvPr>
          <p:cNvSpPr>
            <a:spLocks noGrp="1"/>
          </p:cNvSpPr>
          <p:nvPr/>
        </p:nvSpPr>
        <p:spPr>
          <a:xfrm>
            <a:off x="552450" y="21526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1. 完成身份登记、建档及就诊需求初筛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9A626C-8171-49A0-8E5E-32744F082B24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2. 识别需要优先交给医疗人员处理的情况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4735F1-D74B-43CA-A88D-1BA6A563B059}"/>
              </a:ext>
            </a:extLst>
          </p:cNvPr>
          <p:cNvSpPr>
            <a:spLocks noGrp="1"/>
          </p:cNvSpPr>
          <p:nvPr/>
        </p:nvSpPr>
        <p:spPr>
          <a:xfrm>
            <a:off x="552450" y="32956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3. 告知下一站位置、接待岗位和所需准备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E1B9EC-73F9-42EE-80DC-11E2FC907965}"/>
              </a:ext>
            </a:extLst>
          </p:cNvPr>
          <p:cNvSpPr>
            <a:spLocks noGrp="1"/>
          </p:cNvSpPr>
          <p:nvPr/>
        </p:nvSpPr>
        <p:spPr>
          <a:xfrm>
            <a:off x="552450" y="3962400"/>
            <a:ext cx="5572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负责角色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854D9DA-6237-454E-9840-50134BE64D40}"/>
              </a:ext>
            </a:extLst>
          </p:cNvPr>
          <p:cNvSpPr>
            <a:spLocks noGrp="1"/>
          </p:cNvSpPr>
          <p:nvPr/>
        </p:nvSpPr>
        <p:spPr>
          <a:xfrm>
            <a:off x="552450" y="430530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前台、接待护士、初诊医生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02AC745-2AA5-432E-9A44-AFF8876FB4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423" t="12540" r="33672" b="66206"/>
          <a:stretch/>
        </p:blipFill>
        <p:spPr>
          <a:xfrm>
            <a:off x="6572250" y="1714500"/>
            <a:ext cx="5048250" cy="204787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5D6FA1D-EFC3-4C46-9752-17DC39B08D8F}"/>
              </a:ext>
            </a:extLst>
          </p:cNvPr>
          <p:cNvSpPr>
            <a:spLocks noGrp="1"/>
          </p:cNvSpPr>
          <p:nvPr/>
        </p:nvSpPr>
        <p:spPr>
          <a:xfrm>
            <a:off x="6619875" y="4019550"/>
            <a:ext cx="5000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一线拜访观察问题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1218DC-D0D1-4A57-A914-7E2AA379459F}"/>
              </a:ext>
            </a:extLst>
          </p:cNvPr>
          <p:cNvSpPr>
            <a:spLocks noGrp="1"/>
          </p:cNvSpPr>
          <p:nvPr/>
        </p:nvSpPr>
        <p:spPr>
          <a:xfrm>
            <a:off x="6619875" y="4429125"/>
            <a:ext cx="4953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前台依据什么分流？是否把支付意愿误当成医学适合？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098E1-E520-45CF-9863-798E26E8368E}"/>
              </a:ext>
            </a:extLst>
          </p:cNvPr>
          <p:cNvSpPr>
            <a:spLocks noGrp="1"/>
          </p:cNvSpPr>
          <p:nvPr/>
        </p:nvSpPr>
        <p:spPr>
          <a:xfrm>
            <a:off x="552450" y="5314950"/>
            <a:ext cx="11001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交给评估团队：准确身份、主要诉求及需优先处理的问题。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B13ECA-2478-440D-9C16-071C54052649}"/>
              </a:ext>
            </a:extLst>
          </p:cNvPr>
          <p:cNvSpPr>
            <a:spLocks noGrp="1"/>
          </p:cNvSpPr>
          <p:nvPr/>
        </p:nvSpPr>
        <p:spPr>
          <a:xfrm>
            <a:off x="552450" y="5981700"/>
            <a:ext cx="110013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rPr>
              <a:t>此处为初步流程分流，不按穿着、职业或支付能力定路径。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7DFB7E-813D-4B2A-B840-8B5BA1AD26F3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1076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rPr>
              <a:t>PLS医院患者全流程旅程  2/9</a:t>
            </a:r>
          </a:p>
        </p:txBody>
      </p:sp>
    </p:spTree>
    <p:extLst>
      <p:ext uri="{BB962C8B-B14F-4D97-AF65-F5344CB8AC3E}">
        <p14:creationId xmlns:p14="http://schemas.microsoft.com/office/powerpoint/2010/main" val="936970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249E7E10-7998-4F95-B216-F5736BBCF7B0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9048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03  IDEAL评估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C559BE-A797-4C1C-BEC6-D166AF6D659A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10763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把“想看清楚”转化为具体的生活任务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2D61DB3-2D61-41C6-93E6-3A29EF80C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308699"/>
            <a:ext cx="1381125" cy="55417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BD71482-D939-4299-81F5-A23B7B720F6B}"/>
              </a:ext>
            </a:extLst>
          </p:cNvPr>
          <p:cNvSpPr>
            <a:spLocks noGrp="1"/>
          </p:cNvSpPr>
          <p:nvPr/>
        </p:nvSpPr>
        <p:spPr>
          <a:xfrm>
            <a:off x="552450" y="168592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主要工作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044842-E254-42DA-AA0B-5583DB232BB6}"/>
              </a:ext>
            </a:extLst>
          </p:cNvPr>
          <p:cNvSpPr>
            <a:spLocks noGrp="1"/>
          </p:cNvSpPr>
          <p:nvPr/>
        </p:nvSpPr>
        <p:spPr>
          <a:xfrm>
            <a:off x="552450" y="21526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1. 了解阅读、屏幕使用、驾驶及兴趣活动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5765F15-D842-43BF-9790-FA7BF271F5B6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2. 记录戴镜接受度、担忧和术后期待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F3BBC8-87B2-4D19-AE26-B67A0D864D9C}"/>
              </a:ext>
            </a:extLst>
          </p:cNvPr>
          <p:cNvSpPr>
            <a:spLocks noGrp="1"/>
          </p:cNvSpPr>
          <p:nvPr/>
        </p:nvSpPr>
        <p:spPr>
          <a:xfrm>
            <a:off x="552450" y="32956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3. 整理视觉任务优先级，交医生综合判断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26C5E6-06BB-4D76-A7FA-918EDC9441B2}"/>
              </a:ext>
            </a:extLst>
          </p:cNvPr>
          <p:cNvSpPr>
            <a:spLocks noGrp="1"/>
          </p:cNvSpPr>
          <p:nvPr/>
        </p:nvSpPr>
        <p:spPr>
          <a:xfrm>
            <a:off x="552450" y="3962400"/>
            <a:ext cx="5572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负责角色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439418-A82F-4F88-84F7-7D0F2F447D4F}"/>
              </a:ext>
            </a:extLst>
          </p:cNvPr>
          <p:cNvSpPr>
            <a:spLocks noGrp="1"/>
          </p:cNvSpPr>
          <p:nvPr/>
        </p:nvSpPr>
        <p:spPr>
          <a:xfrm>
            <a:off x="552450" y="430530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咨询师、患教专员、视光师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D98E7DD-F01D-410C-8A02-0FB975E542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079" t="12540" r="1615" b="66206"/>
          <a:stretch/>
        </p:blipFill>
        <p:spPr>
          <a:xfrm>
            <a:off x="6572250" y="1714500"/>
            <a:ext cx="5048250" cy="204787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4EB3F99-CC52-4DAE-BF29-5C9E41EC2DF4}"/>
              </a:ext>
            </a:extLst>
          </p:cNvPr>
          <p:cNvSpPr>
            <a:spLocks noGrp="1"/>
          </p:cNvSpPr>
          <p:nvPr/>
        </p:nvSpPr>
        <p:spPr>
          <a:xfrm>
            <a:off x="6619875" y="4019550"/>
            <a:ext cx="5000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一线拜访观察问题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3B0EFE5-93C3-4DEC-AF64-AAEC69D02924}"/>
              </a:ext>
            </a:extLst>
          </p:cNvPr>
          <p:cNvSpPr>
            <a:spLocks noGrp="1"/>
          </p:cNvSpPr>
          <p:nvPr/>
        </p:nvSpPr>
        <p:spPr>
          <a:xfrm>
            <a:off x="6619875" y="4429125"/>
            <a:ext cx="4953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医生面诊前，能否快速看到患者最重要的视觉需求？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98EC33D-DB9E-4423-85C5-064A266640A4}"/>
              </a:ext>
            </a:extLst>
          </p:cNvPr>
          <p:cNvSpPr>
            <a:spLocks noGrp="1"/>
          </p:cNvSpPr>
          <p:nvPr/>
        </p:nvSpPr>
        <p:spPr>
          <a:xfrm>
            <a:off x="552450" y="5314950"/>
            <a:ext cx="11001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交给医生：主要视觉任务、顾虑、预期及需进一步澄清的问题。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EFDB8FA-2007-4952-9146-8253D898E56F}"/>
              </a:ext>
            </a:extLst>
          </p:cNvPr>
          <p:cNvSpPr>
            <a:spLocks noGrp="1"/>
          </p:cNvSpPr>
          <p:nvPr/>
        </p:nvSpPr>
        <p:spPr>
          <a:xfrm>
            <a:off x="552450" y="5981700"/>
            <a:ext cx="110013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rPr>
              <a:t>需求访谈不引导购买；患者愿望不能直接成为效果承诺。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87354DC-344B-4002-888B-EDC9B918E45B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1076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rPr>
              <a:t>PLS医院患者全流程旅程  3/9</a:t>
            </a:r>
          </a:p>
        </p:txBody>
      </p:sp>
    </p:spTree>
    <p:extLst>
      <p:ext uri="{BB962C8B-B14F-4D97-AF65-F5344CB8AC3E}">
        <p14:creationId xmlns:p14="http://schemas.microsoft.com/office/powerpoint/2010/main" val="1000344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B5F02CB6-F517-4864-A17A-957573101550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9048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04  全面检查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731F35-3C41-4ED7-B697-37E4018B95A1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10763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检查完成之后，还要确认数据可用于判断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1159B8C-579F-40CB-A266-E0AFA41F6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308699"/>
            <a:ext cx="1381125" cy="55417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D011123-3DF6-4BFB-AED6-52EC1AFD92A2}"/>
              </a:ext>
            </a:extLst>
          </p:cNvPr>
          <p:cNvSpPr>
            <a:spLocks noGrp="1"/>
          </p:cNvSpPr>
          <p:nvPr/>
        </p:nvSpPr>
        <p:spPr>
          <a:xfrm>
            <a:off x="552450" y="168592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主要工作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5358C0-DE56-4782-803C-FC3974477896}"/>
              </a:ext>
            </a:extLst>
          </p:cNvPr>
          <p:cNvSpPr>
            <a:spLocks noGrp="1"/>
          </p:cNvSpPr>
          <p:nvPr/>
        </p:nvSpPr>
        <p:spPr>
          <a:xfrm>
            <a:off x="552450" y="21526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1. 按临床需要完成眼部检查和关键测量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8BC61B-B0B5-4EEC-A371-2C8D06B64BC3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2. 核对报告完整性、测量质量及结果差异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D2E974-0F12-43DF-A481-90A1CD8FD4B9}"/>
              </a:ext>
            </a:extLst>
          </p:cNvPr>
          <p:cNvSpPr>
            <a:spLocks noGrp="1"/>
          </p:cNvSpPr>
          <p:nvPr/>
        </p:nvSpPr>
        <p:spPr>
          <a:xfrm>
            <a:off x="552450" y="32956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3. 异常及时升级，必要时复测或进一步检查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C28C6CA-BC75-4BEB-9434-A1C95BAD690F}"/>
              </a:ext>
            </a:extLst>
          </p:cNvPr>
          <p:cNvSpPr>
            <a:spLocks noGrp="1"/>
          </p:cNvSpPr>
          <p:nvPr/>
        </p:nvSpPr>
        <p:spPr>
          <a:xfrm>
            <a:off x="552450" y="3962400"/>
            <a:ext cx="5572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负责角色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A7F8FD-5551-41A9-987C-736FEDF51494}"/>
              </a:ext>
            </a:extLst>
          </p:cNvPr>
          <p:cNvSpPr>
            <a:spLocks noGrp="1"/>
          </p:cNvSpPr>
          <p:nvPr/>
        </p:nvSpPr>
        <p:spPr>
          <a:xfrm>
            <a:off x="552450" y="430530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视光师、特殊检查技师、医生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4E9954E-FBC2-464A-ACEE-7599550563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079" t="36132" r="1615" b="42295"/>
          <a:stretch/>
        </p:blipFill>
        <p:spPr>
          <a:xfrm>
            <a:off x="6572250" y="1714500"/>
            <a:ext cx="5048250" cy="204787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BBA35CC-4494-4BEB-82FE-C29328945695}"/>
              </a:ext>
            </a:extLst>
          </p:cNvPr>
          <p:cNvSpPr>
            <a:spLocks noGrp="1"/>
          </p:cNvSpPr>
          <p:nvPr/>
        </p:nvSpPr>
        <p:spPr>
          <a:xfrm>
            <a:off x="6619875" y="4019550"/>
            <a:ext cx="5000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一线拜访观察问题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FAFFCB-568F-4678-B639-8D8EF0B3A3BF}"/>
              </a:ext>
            </a:extLst>
          </p:cNvPr>
          <p:cNvSpPr>
            <a:spLocks noGrp="1"/>
          </p:cNvSpPr>
          <p:nvPr/>
        </p:nvSpPr>
        <p:spPr>
          <a:xfrm>
            <a:off x="6619875" y="4429125"/>
            <a:ext cx="4953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数据不一致时谁决定复测？谁追踪异常是否得到处理？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D35C57-2325-4537-8BDC-0710896B1014}"/>
              </a:ext>
            </a:extLst>
          </p:cNvPr>
          <p:cNvSpPr>
            <a:spLocks noGrp="1"/>
          </p:cNvSpPr>
          <p:nvPr/>
        </p:nvSpPr>
        <p:spPr>
          <a:xfrm>
            <a:off x="552450" y="5314950"/>
            <a:ext cx="11001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交给医生：可靠报告、质量疑点和尚未解决的异常。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A1A44AA-BD06-474A-BC5B-5E10B70885CD}"/>
              </a:ext>
            </a:extLst>
          </p:cNvPr>
          <p:cNvSpPr>
            <a:spLocks noGrp="1"/>
          </p:cNvSpPr>
          <p:nvPr/>
        </p:nvSpPr>
        <p:spPr>
          <a:xfrm>
            <a:off x="552450" y="5981700"/>
            <a:ext cx="110013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rPr>
              <a:t>设备齐全不等于检查可靠；做完检查不等于可以手术。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49DA25-1D01-42E0-823E-BB436FF10C8F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1076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rPr>
              <a:t>PLS医院患者全流程旅程  4/9</a:t>
            </a:r>
          </a:p>
        </p:txBody>
      </p:sp>
    </p:spTree>
    <p:extLst>
      <p:ext uri="{BB962C8B-B14F-4D97-AF65-F5344CB8AC3E}">
        <p14:creationId xmlns:p14="http://schemas.microsoft.com/office/powerpoint/2010/main" val="694715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19AEF15B-3FD5-4DD3-90D2-22D128D2EB9B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9048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05  医生诊断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7CD849-571B-4513-8CB9-EA65EBBB0E9D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10763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医生综合眼部条件与视觉需求作出判断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D0E217F-1319-4BC4-A598-A6B58AD94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308699"/>
            <a:ext cx="1381125" cy="55417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A32A48F-6354-44A8-8F66-E82FF1D6BDEC}"/>
              </a:ext>
            </a:extLst>
          </p:cNvPr>
          <p:cNvSpPr>
            <a:spLocks noGrp="1"/>
          </p:cNvSpPr>
          <p:nvPr/>
        </p:nvSpPr>
        <p:spPr>
          <a:xfrm>
            <a:off x="552450" y="168592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主要工作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761F74-0A67-45D5-8FB8-7B8E68B25BA6}"/>
              </a:ext>
            </a:extLst>
          </p:cNvPr>
          <p:cNvSpPr>
            <a:spLocks noGrp="1"/>
          </p:cNvSpPr>
          <p:nvPr/>
        </p:nvSpPr>
        <p:spPr>
          <a:xfrm>
            <a:off x="552450" y="21526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1. 明确诊断、手术适应证与主要风险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680649-CD66-4AD5-86A7-E641AA124CDD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2. 比较合理方案，并解释不推荐方案的理由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165923C-0C53-482F-B7EA-57320645C2A5}"/>
              </a:ext>
            </a:extLst>
          </p:cNvPr>
          <p:cNvSpPr>
            <a:spLocks noGrp="1"/>
          </p:cNvSpPr>
          <p:nvPr/>
        </p:nvSpPr>
        <p:spPr>
          <a:xfrm>
            <a:off x="552450" y="32956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3. 复杂病例按需开展多学科讨论并留存结论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1F2120-54F8-4966-B7B5-BC4E9768A6E9}"/>
              </a:ext>
            </a:extLst>
          </p:cNvPr>
          <p:cNvSpPr>
            <a:spLocks noGrp="1"/>
          </p:cNvSpPr>
          <p:nvPr/>
        </p:nvSpPr>
        <p:spPr>
          <a:xfrm>
            <a:off x="552450" y="3962400"/>
            <a:ext cx="5572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负责角色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A81C5F-62C4-4C62-A52E-225E8A2352C8}"/>
              </a:ext>
            </a:extLst>
          </p:cNvPr>
          <p:cNvSpPr>
            <a:spLocks noGrp="1"/>
          </p:cNvSpPr>
          <p:nvPr/>
        </p:nvSpPr>
        <p:spPr>
          <a:xfrm>
            <a:off x="552450" y="430530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主诊医生、手术医生，必要时MDT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A75D3A8-7797-4CA4-9CAC-37ECF6142D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457" t="36132" r="33313" b="42295"/>
          <a:stretch/>
        </p:blipFill>
        <p:spPr>
          <a:xfrm>
            <a:off x="6572250" y="1714500"/>
            <a:ext cx="5048250" cy="204787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435269E-EDA8-49B3-8804-8A6231C0BA7F}"/>
              </a:ext>
            </a:extLst>
          </p:cNvPr>
          <p:cNvSpPr>
            <a:spLocks noGrp="1"/>
          </p:cNvSpPr>
          <p:nvPr/>
        </p:nvSpPr>
        <p:spPr>
          <a:xfrm>
            <a:off x="6619875" y="4019550"/>
            <a:ext cx="5000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一线拜访观察问题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C8CF366-C24E-487A-BD69-390353A00EEC}"/>
              </a:ext>
            </a:extLst>
          </p:cNvPr>
          <p:cNvSpPr>
            <a:spLocks noGrp="1"/>
          </p:cNvSpPr>
          <p:nvPr/>
        </p:nvSpPr>
        <p:spPr>
          <a:xfrm>
            <a:off x="6619875" y="4429125"/>
            <a:ext cx="4953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医生给出的方案，是否同时回应了检查结果和生活需求？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63354A-2481-44FE-8646-BE37B8A1E9AA}"/>
              </a:ext>
            </a:extLst>
          </p:cNvPr>
          <p:cNvSpPr>
            <a:spLocks noGrp="1"/>
          </p:cNvSpPr>
          <p:nvPr/>
        </p:nvSpPr>
        <p:spPr>
          <a:xfrm>
            <a:off x="552450" y="5314950"/>
            <a:ext cx="11001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交给沟通团队：明确的临床意见、方案边界及待确认事项。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549D7AE-5535-4D53-AE73-2D5699936F38}"/>
              </a:ext>
            </a:extLst>
          </p:cNvPr>
          <p:cNvSpPr>
            <a:spLocks noGrp="1"/>
          </p:cNvSpPr>
          <p:nvPr/>
        </p:nvSpPr>
        <p:spPr>
          <a:xfrm>
            <a:off x="552450" y="5981700"/>
            <a:ext cx="110013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rPr>
              <a:t>咨询师和销售均不能替医生确定适应证、晶体或手术方案。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D9C1442-A109-4D51-AC48-F243ADEFC89E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1076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rPr>
              <a:t>PLS医院患者全流程旅程  5/9</a:t>
            </a:r>
          </a:p>
        </p:txBody>
      </p:sp>
    </p:spTree>
    <p:extLst>
      <p:ext uri="{BB962C8B-B14F-4D97-AF65-F5344CB8AC3E}">
        <p14:creationId xmlns:p14="http://schemas.microsoft.com/office/powerpoint/2010/main" val="559595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8C6BCE03-8E36-440B-83EB-BFF180AA6A7F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9048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06  方案确定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A5F7A5-9814-40F1-92D7-9DF153D89AC8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10763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路径确认闸门：医学可行、充分理解、自主选择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E303EF0-4E21-4001-A6D4-8E1791CF0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308699"/>
            <a:ext cx="1381125" cy="55417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16304BF-C3FE-4552-A2FE-70E8570DBEFE}"/>
              </a:ext>
            </a:extLst>
          </p:cNvPr>
          <p:cNvSpPr>
            <a:spLocks noGrp="1"/>
          </p:cNvSpPr>
          <p:nvPr/>
        </p:nvSpPr>
        <p:spPr>
          <a:xfrm>
            <a:off x="552450" y="168592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主要工作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FB78F4-67FF-4624-A7F5-E8088724B10E}"/>
              </a:ext>
            </a:extLst>
          </p:cNvPr>
          <p:cNvSpPr>
            <a:spLocks noGrp="1"/>
          </p:cNvSpPr>
          <p:nvPr/>
        </p:nvSpPr>
        <p:spPr>
          <a:xfrm>
            <a:off x="552450" y="21526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1. 说明获益、局限、替代方案和实际费用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635A20-C218-4F6F-A47C-F879EEF42FD7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2. 用复述确认理解，留出充分考虑时间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168155-CE2A-4E37-9446-7F6F5D59B162}"/>
              </a:ext>
            </a:extLst>
          </p:cNvPr>
          <p:cNvSpPr>
            <a:spLocks noGrp="1"/>
          </p:cNvSpPr>
          <p:nvPr/>
        </p:nvSpPr>
        <p:spPr>
          <a:xfrm>
            <a:off x="552450" y="32956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3. 完成医生确认、患者自主选择及知情同意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AFB7891-AFDD-490D-A94F-A156DAA59B47}"/>
              </a:ext>
            </a:extLst>
          </p:cNvPr>
          <p:cNvSpPr>
            <a:spLocks noGrp="1"/>
          </p:cNvSpPr>
          <p:nvPr/>
        </p:nvSpPr>
        <p:spPr>
          <a:xfrm>
            <a:off x="552450" y="3962400"/>
            <a:ext cx="5572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负责角色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B15705-0E19-4FA9-9B99-A8B46CEB8CD3}"/>
              </a:ext>
            </a:extLst>
          </p:cNvPr>
          <p:cNvSpPr>
            <a:spLocks noGrp="1"/>
          </p:cNvSpPr>
          <p:nvPr/>
        </p:nvSpPr>
        <p:spPr>
          <a:xfrm>
            <a:off x="552450" y="430530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医生、咨询师、收费／医保人员；患者及家属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CB8BC46-2B7C-4819-9448-A0954E3680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15" t="36132" r="69438" b="42295"/>
          <a:stretch/>
        </p:blipFill>
        <p:spPr>
          <a:xfrm>
            <a:off x="6572250" y="1714500"/>
            <a:ext cx="5048250" cy="204787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B6D0819-15BC-401E-91DC-C4CC9F0B7604}"/>
              </a:ext>
            </a:extLst>
          </p:cNvPr>
          <p:cNvSpPr>
            <a:spLocks noGrp="1"/>
          </p:cNvSpPr>
          <p:nvPr/>
        </p:nvSpPr>
        <p:spPr>
          <a:xfrm>
            <a:off x="6619875" y="4019550"/>
            <a:ext cx="5000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一线拜访观察问题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96376D-3712-4793-983C-1782F6D3C9B9}"/>
              </a:ext>
            </a:extLst>
          </p:cNvPr>
          <p:cNvSpPr>
            <a:spLocks noGrp="1"/>
          </p:cNvSpPr>
          <p:nvPr/>
        </p:nvSpPr>
        <p:spPr>
          <a:xfrm>
            <a:off x="6619875" y="4429125"/>
            <a:ext cx="4953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如果患者仍相信“贵就保证脱镜”，团队会继续解释吗？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789E77-04A3-4A94-8D46-627CB1631B1E}"/>
              </a:ext>
            </a:extLst>
          </p:cNvPr>
          <p:cNvSpPr>
            <a:spLocks noGrp="1"/>
          </p:cNvSpPr>
          <p:nvPr/>
        </p:nvSpPr>
        <p:spPr>
          <a:xfrm>
            <a:off x="552450" y="5314950"/>
            <a:ext cx="11001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交给手术团队：已确认方案、患者选择及完整沟通记录。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ECAE238-49AB-48A2-9170-F0540E05D28A}"/>
              </a:ext>
            </a:extLst>
          </p:cNvPr>
          <p:cNvSpPr>
            <a:spLocks noGrp="1"/>
          </p:cNvSpPr>
          <p:nvPr/>
        </p:nvSpPr>
        <p:spPr>
          <a:xfrm>
            <a:off x="552450" y="5981700"/>
            <a:ext cx="110013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rPr>
              <a:t>标准路径、PLS路径或暂缓决定均可合理；签字不能替代理解。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D70520C-8E8D-4103-98C1-62E822B12B2C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1076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rPr>
              <a:t>PLS医院患者全流程旅程  6/9</a:t>
            </a:r>
          </a:p>
        </p:txBody>
      </p:sp>
    </p:spTree>
    <p:extLst>
      <p:ext uri="{BB962C8B-B14F-4D97-AF65-F5344CB8AC3E}">
        <p14:creationId xmlns:p14="http://schemas.microsoft.com/office/powerpoint/2010/main" val="207761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5FCDF01A-A03E-4322-92C3-E6C59DBB2A09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9048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07  手术执行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A94BE3-BF3B-446A-80D7-14442A941B98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10763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把已确认的方案安全执行，并完成出院交接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C1C0A2-2235-4A7E-BF8A-7EA40BFC3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308699"/>
            <a:ext cx="1381125" cy="55417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74264FA-3109-4CB7-A244-1D83B66FAF89}"/>
              </a:ext>
            </a:extLst>
          </p:cNvPr>
          <p:cNvSpPr>
            <a:spLocks noGrp="1"/>
          </p:cNvSpPr>
          <p:nvPr/>
        </p:nvSpPr>
        <p:spPr>
          <a:xfrm>
            <a:off x="552450" y="168592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主要工作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1893AB-16C2-4D24-84EE-018456C9ADEA}"/>
              </a:ext>
            </a:extLst>
          </p:cNvPr>
          <p:cNvSpPr>
            <a:spLocks noGrp="1"/>
          </p:cNvSpPr>
          <p:nvPr/>
        </p:nvSpPr>
        <p:spPr>
          <a:xfrm>
            <a:off x="552450" y="21526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1. 按规范核查身份、眼别、IOL型号与度数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37527AE-CA23-485B-AF95-F63AE71BB964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2. 完成手术、安全记录及术后观察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7FF18EF-B16C-4FAC-AABA-98B0117C1AD2}"/>
              </a:ext>
            </a:extLst>
          </p:cNvPr>
          <p:cNvSpPr>
            <a:spLocks noGrp="1"/>
          </p:cNvSpPr>
          <p:nvPr/>
        </p:nvSpPr>
        <p:spPr>
          <a:xfrm>
            <a:off x="552450" y="32956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3. 交代用药、复诊、异常就医及紧急联系办法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E93749-3394-40B1-B570-DAC375826380}"/>
              </a:ext>
            </a:extLst>
          </p:cNvPr>
          <p:cNvSpPr>
            <a:spLocks noGrp="1"/>
          </p:cNvSpPr>
          <p:nvPr/>
        </p:nvSpPr>
        <p:spPr>
          <a:xfrm>
            <a:off x="552450" y="3962400"/>
            <a:ext cx="5572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负责角色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9D93C-E101-4B81-982E-192B5ACD65E8}"/>
              </a:ext>
            </a:extLst>
          </p:cNvPr>
          <p:cNvSpPr>
            <a:spLocks noGrp="1"/>
          </p:cNvSpPr>
          <p:nvPr/>
        </p:nvSpPr>
        <p:spPr>
          <a:xfrm>
            <a:off x="552450" y="430530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手术医生、手术护士、病区／接待护士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ECDDF96-B7C7-485C-BB13-4F1960E109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15" t="60361" r="66687" b="18704"/>
          <a:stretch/>
        </p:blipFill>
        <p:spPr>
          <a:xfrm>
            <a:off x="6572250" y="1714500"/>
            <a:ext cx="5048250" cy="204787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055391E-6320-4606-81C5-A4E4AF84D4B2}"/>
              </a:ext>
            </a:extLst>
          </p:cNvPr>
          <p:cNvSpPr>
            <a:spLocks noGrp="1"/>
          </p:cNvSpPr>
          <p:nvPr/>
        </p:nvSpPr>
        <p:spPr>
          <a:xfrm>
            <a:off x="6619875" y="4019550"/>
            <a:ext cx="5000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一线拜访观察问题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5F71C3-D9B1-43F6-9699-06FFC498A02C}"/>
              </a:ext>
            </a:extLst>
          </p:cNvPr>
          <p:cNvSpPr>
            <a:spLocks noGrp="1"/>
          </p:cNvSpPr>
          <p:nvPr/>
        </p:nvSpPr>
        <p:spPr>
          <a:xfrm>
            <a:off x="6619875" y="4429125"/>
            <a:ext cx="4953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手术方案变更后，谁负责重新确认并通知相关岗位？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0EF63D-336F-4D0B-9242-AFD4657DB05B}"/>
              </a:ext>
            </a:extLst>
          </p:cNvPr>
          <p:cNvSpPr>
            <a:spLocks noGrp="1"/>
          </p:cNvSpPr>
          <p:nvPr/>
        </p:nvSpPr>
        <p:spPr>
          <a:xfrm>
            <a:off x="552450" y="5314950"/>
            <a:ext cx="11001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交给随访团队：实际手术情况、医嘱与后续观察重点。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8CD477E-CB04-459E-8904-62FE7CFB3AEC}"/>
              </a:ext>
            </a:extLst>
          </p:cNvPr>
          <p:cNvSpPr>
            <a:spLocks noGrp="1"/>
          </p:cNvSpPr>
          <p:nvPr/>
        </p:nvSpPr>
        <p:spPr>
          <a:xfrm>
            <a:off x="552450" y="5981700"/>
            <a:ext cx="110013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rPr>
              <a:t>出院教育属于本环节；不能依靠口头传递关键手术信息。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233F724-904A-4F7C-9571-FCDC45117D1A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1076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rPr>
              <a:t>PLS医院患者全流程旅程  7/9</a:t>
            </a:r>
          </a:p>
        </p:txBody>
      </p:sp>
    </p:spTree>
    <p:extLst>
      <p:ext uri="{BB962C8B-B14F-4D97-AF65-F5344CB8AC3E}">
        <p14:creationId xmlns:p14="http://schemas.microsoft.com/office/powerpoint/2010/main" val="506317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4F23BDD-E95E-4C36-BFC6-23FA4259EBDF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9048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08  术后随访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B86A94-ED9E-48D1-BBB6-E74E95766F30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10763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关注患者实际看得怎样、生活任务是否改善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CD92999-A1D8-48BE-B303-10E230630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308699"/>
            <a:ext cx="1381125" cy="55417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1B95BEE-2492-4DF8-AC8C-4C5721235DF4}"/>
              </a:ext>
            </a:extLst>
          </p:cNvPr>
          <p:cNvSpPr>
            <a:spLocks noGrp="1"/>
          </p:cNvSpPr>
          <p:nvPr/>
        </p:nvSpPr>
        <p:spPr>
          <a:xfrm>
            <a:off x="552450" y="168592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主要工作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8A5199-5996-4DD6-84A0-130C7FB78A77}"/>
              </a:ext>
            </a:extLst>
          </p:cNvPr>
          <p:cNvSpPr>
            <a:spLocks noGrp="1"/>
          </p:cNvSpPr>
          <p:nvPr/>
        </p:nvSpPr>
        <p:spPr>
          <a:xfrm>
            <a:off x="552450" y="21526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1. 评估恢复、视觉质量及实际生活体验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A5DE59-74E0-4B4E-B679-70329AE59756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2. 不适先做医学排查，再讨论适应与支持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850D81-D7E2-44FB-A768-CC7D7D0FE1C6}"/>
              </a:ext>
            </a:extLst>
          </p:cNvPr>
          <p:cNvSpPr>
            <a:spLocks noGrp="1"/>
          </p:cNvSpPr>
          <p:nvPr/>
        </p:nvSpPr>
        <p:spPr>
          <a:xfrm>
            <a:off x="552450" y="32956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3. 明确处理计划、责任人及必要的投诉升级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A238AB-7968-4E5C-AB6F-46963A29EAA2}"/>
              </a:ext>
            </a:extLst>
          </p:cNvPr>
          <p:cNvSpPr>
            <a:spLocks noGrp="1"/>
          </p:cNvSpPr>
          <p:nvPr/>
        </p:nvSpPr>
        <p:spPr>
          <a:xfrm>
            <a:off x="552450" y="3962400"/>
            <a:ext cx="5572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负责角色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A68FDAF-BFE4-402D-A563-A8C93B01B8F5}"/>
              </a:ext>
            </a:extLst>
          </p:cNvPr>
          <p:cNvSpPr>
            <a:spLocks noGrp="1"/>
          </p:cNvSpPr>
          <p:nvPr/>
        </p:nvSpPr>
        <p:spPr>
          <a:xfrm>
            <a:off x="552450" y="430530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医生、随访护士、咨询师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4236317-BB04-4214-B8A4-D31258C7F5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364" t="60361" r="33732" b="18704"/>
          <a:stretch/>
        </p:blipFill>
        <p:spPr>
          <a:xfrm>
            <a:off x="6572250" y="1714500"/>
            <a:ext cx="5048250" cy="204787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1C943C3A-5CD5-430D-81A9-602AFE42DB64}"/>
              </a:ext>
            </a:extLst>
          </p:cNvPr>
          <p:cNvSpPr>
            <a:spLocks noGrp="1"/>
          </p:cNvSpPr>
          <p:nvPr/>
        </p:nvSpPr>
        <p:spPr>
          <a:xfrm>
            <a:off x="6619875" y="4019550"/>
            <a:ext cx="5000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一线拜访观察问题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0240DE2-ACED-48B1-A2B4-7E9BDC5C8248}"/>
              </a:ext>
            </a:extLst>
          </p:cNvPr>
          <p:cNvSpPr>
            <a:spLocks noGrp="1"/>
          </p:cNvSpPr>
          <p:nvPr/>
        </p:nvSpPr>
        <p:spPr>
          <a:xfrm>
            <a:off x="6619875" y="4429125"/>
            <a:ext cx="4953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患者出现光晕或视物不清时，能否找到明确的临床责任人？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27B044-0056-4960-9AA3-22A6EDAA44B2}"/>
              </a:ext>
            </a:extLst>
          </p:cNvPr>
          <p:cNvSpPr>
            <a:spLocks noGrp="1"/>
          </p:cNvSpPr>
          <p:nvPr/>
        </p:nvSpPr>
        <p:spPr>
          <a:xfrm>
            <a:off x="552450" y="5314950"/>
            <a:ext cx="11001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交给质量团队：结局、主诉、处理经过及未解决问题。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03AAE97-9683-4FA7-B387-95B187B00B13}"/>
              </a:ext>
            </a:extLst>
          </p:cNvPr>
          <p:cNvSpPr>
            <a:spLocks noGrp="1"/>
          </p:cNvSpPr>
          <p:nvPr/>
        </p:nvSpPr>
        <p:spPr>
          <a:xfrm>
            <a:off x="552450" y="5981700"/>
            <a:ext cx="110013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rPr>
              <a:t>不能未经评估就归因于神经适应；医学与费用争议分别处理。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B34C789-610D-4FF1-B8A1-E86367808EB4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1076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rPr>
              <a:t>PLS医院患者全流程旅程  8/9</a:t>
            </a:r>
          </a:p>
        </p:txBody>
      </p:sp>
    </p:spTree>
    <p:extLst>
      <p:ext uri="{BB962C8B-B14F-4D97-AF65-F5344CB8AC3E}">
        <p14:creationId xmlns:p14="http://schemas.microsoft.com/office/powerpoint/2010/main" val="491185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41ED1A66-FAF1-4482-99C9-0F8047555E40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9048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09  持续改进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2A502E-742A-48BE-AEBB-A8A8C35D0413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10763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将每位患者的经历转化为可验证的改进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294E6D4-94AB-4EE5-930A-497434637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0" y="308699"/>
            <a:ext cx="1381125" cy="55417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6EADF75-80AE-415A-9FB5-4874B7CE51D7}"/>
              </a:ext>
            </a:extLst>
          </p:cNvPr>
          <p:cNvSpPr>
            <a:spLocks noGrp="1"/>
          </p:cNvSpPr>
          <p:nvPr/>
        </p:nvSpPr>
        <p:spPr>
          <a:xfrm>
            <a:off x="552450" y="168592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主要工作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072411-DAC9-42F1-89A2-5843F6FFCAC5}"/>
              </a:ext>
            </a:extLst>
          </p:cNvPr>
          <p:cNvSpPr>
            <a:spLocks noGrp="1"/>
          </p:cNvSpPr>
          <p:nvPr/>
        </p:nvSpPr>
        <p:spPr>
          <a:xfrm>
            <a:off x="552450" y="21526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1. 汇总视觉结局、患者反馈及投诉主题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E972F2-8F38-494D-A0D1-9357FB14F4A7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2. 追查流程断点，更新SOP和针对性培训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50023E-DA4A-4CA0-BF77-1A1F73FE1AC1}"/>
              </a:ext>
            </a:extLst>
          </p:cNvPr>
          <p:cNvSpPr>
            <a:spLocks noGrp="1"/>
          </p:cNvSpPr>
          <p:nvPr/>
        </p:nvSpPr>
        <p:spPr>
          <a:xfrm>
            <a:off x="552450" y="3295650"/>
            <a:ext cx="557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3. 明确改进行动、负责人、期限及验证记录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2ADC57-3C00-4F9B-9C3B-F15B05A7BB71}"/>
              </a:ext>
            </a:extLst>
          </p:cNvPr>
          <p:cNvSpPr>
            <a:spLocks noGrp="1"/>
          </p:cNvSpPr>
          <p:nvPr/>
        </p:nvSpPr>
        <p:spPr>
          <a:xfrm>
            <a:off x="552450" y="3962400"/>
            <a:ext cx="5572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负责角色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19FC25-E77C-4121-A289-B4B6E573CA91}"/>
              </a:ext>
            </a:extLst>
          </p:cNvPr>
          <p:cNvSpPr>
            <a:spLocks noGrp="1"/>
          </p:cNvSpPr>
          <p:nvPr/>
        </p:nvSpPr>
        <p:spPr>
          <a:xfrm>
            <a:off x="552450" y="430530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院长／CEO、质量负责人、MDT、HR／培训经理、PLS团队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D90A25B-D447-472E-B4C6-C79FEDA375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079" t="60361" r="1615" b="18704"/>
          <a:stretch/>
        </p:blipFill>
        <p:spPr>
          <a:xfrm>
            <a:off x="6572250" y="1714500"/>
            <a:ext cx="5048250" cy="204787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DB7C224-D412-4B83-B212-37183A74EBAE}"/>
              </a:ext>
            </a:extLst>
          </p:cNvPr>
          <p:cNvSpPr>
            <a:spLocks noGrp="1"/>
          </p:cNvSpPr>
          <p:nvPr/>
        </p:nvSpPr>
        <p:spPr>
          <a:xfrm>
            <a:off x="6619875" y="4019550"/>
            <a:ext cx="5000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40B3D"/>
                </a:solidFill>
                <a:latin typeface="Microsoft YaHei"/>
                <a:ea typeface="Microsoft YaHei"/>
                <a:cs typeface="Microsoft YaHei"/>
              </a:rPr>
              <a:t>一线拜访观察问题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87DCD9-CFC2-428A-9831-67B1ACE51172}"/>
              </a:ext>
            </a:extLst>
          </p:cNvPr>
          <p:cNvSpPr>
            <a:spLocks noGrp="1"/>
          </p:cNvSpPr>
          <p:nvPr/>
        </p:nvSpPr>
        <p:spPr>
          <a:xfrm>
            <a:off x="6619875" y="4429125"/>
            <a:ext cx="4953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同类问题反复出现后，医院是否改变了流程并验证效果？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43DCB7-19AA-4EC6-A860-24B5394DC8AA}"/>
              </a:ext>
            </a:extLst>
          </p:cNvPr>
          <p:cNvSpPr>
            <a:spLocks noGrp="1"/>
          </p:cNvSpPr>
          <p:nvPr/>
        </p:nvSpPr>
        <p:spPr>
          <a:xfrm>
            <a:off x="552450" y="5314950"/>
            <a:ext cx="11001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45A"/>
                </a:solidFill>
                <a:latin typeface="Microsoft YaHei"/>
                <a:ea typeface="Microsoft YaHei"/>
                <a:cs typeface="Microsoft YaHei"/>
              </a:rPr>
              <a:t>回到全流程：用改进后的标准支持后续患者与长期管理。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55920B-84EA-4A81-8A73-53972C9AEB03}"/>
              </a:ext>
            </a:extLst>
          </p:cNvPr>
          <p:cNvSpPr>
            <a:spLocks noGrp="1"/>
          </p:cNvSpPr>
          <p:nvPr/>
        </p:nvSpPr>
        <p:spPr>
          <a:xfrm>
            <a:off x="552450" y="5981700"/>
            <a:ext cx="110013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rPr>
              <a:t>同时看质量、体验与经营；不能只用收入或某类IOL占比评价。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3120CF2-396B-4896-AB9D-493534D6D6A5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10763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B7F"/>
                </a:solidFill>
                <a:latin typeface="Microsoft YaHei"/>
                <a:ea typeface="Microsoft YaHei"/>
                <a:cs typeface="Microsoft YaHei"/>
              </a:rPr>
              <a:t>PLS医院患者全流程旅程  9/9</a:t>
            </a:r>
          </a:p>
        </p:txBody>
      </p:sp>
    </p:spTree>
    <p:extLst>
      <p:ext uri="{BB962C8B-B14F-4D97-AF65-F5344CB8AC3E}">
        <p14:creationId xmlns:p14="http://schemas.microsoft.com/office/powerpoint/2010/main" val="1882017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1269</Words>
  <Application>Microsoft Macintosh PowerPoint</Application>
  <DocSecurity>0</DocSecurity>
  <PresentationFormat>宽屏</PresentationFormat>
  <Paragraphs>208</Paragraphs>
  <Slides>12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Aptos</vt:lpstr>
      <vt:lpstr>ChatGPT</vt:lpstr>
      <vt:lpstr>PowerPoint 演示文稿</vt:lpstr>
      <vt:lpstr>背景</vt:lpstr>
      <vt:lpstr>本次学习目标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Aiping He</cp:lastModifiedBy>
  <cp:revision>10</cp:revision>
  <dcterms:created xsi:type="dcterms:W3CDTF">2026-10-15T03:49:48Z</dcterms:created>
  <dcterms:modified xsi:type="dcterms:W3CDTF">2026-10-15T04:21:03Z</dcterms:modified>
</cp:coreProperties>
</file>