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ae3a7437854da7" /><Relationship Type="http://schemas.openxmlformats.org/officeDocument/2006/relationships/extended-properties" Target="/docProps/app.xml" Id="Ra3e98789766843fd" /><Relationship Type="http://schemas.openxmlformats.org/officeDocument/2006/relationships/officeDocument" Target="/ppt/presentation.xml" Id="R6c3e5df1b4334e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c599c2eb34603"/>
  </p:sldMasterIdLst>
  <p:notesMasterIdLst>
    <p:notesMasterId xmlns:r="http://schemas.openxmlformats.org/officeDocument/2006/relationships" r:id="R8167fe03d2474bbb"/>
  </p:notesMasterIdLst>
  <p:sldIdLst>
    <p:sldId xmlns:r="http://schemas.openxmlformats.org/officeDocument/2006/relationships" id="256" r:id="Ra13629cb8f4b4d7f"/>
    <p:sldId xmlns:r="http://schemas.openxmlformats.org/officeDocument/2006/relationships" id="257" r:id="R94fe435d035c4a93"/>
    <p:sldId xmlns:r="http://schemas.openxmlformats.org/officeDocument/2006/relationships" id="258" r:id="R8f553a962ef74bd5"/>
    <p:sldId xmlns:r="http://schemas.openxmlformats.org/officeDocument/2006/relationships" id="259" r:id="R05164cd67f6b4abf"/>
    <p:sldId xmlns:r="http://schemas.openxmlformats.org/officeDocument/2006/relationships" id="260" r:id="R60397d5ca24b4364"/>
    <p:sldId xmlns:r="http://schemas.openxmlformats.org/officeDocument/2006/relationships" id="261" r:id="R712562b7e2c245e1"/>
    <p:sldId xmlns:r="http://schemas.openxmlformats.org/officeDocument/2006/relationships" id="262" r:id="R0e68b33c889f451e"/>
    <p:sldId xmlns:r="http://schemas.openxmlformats.org/officeDocument/2006/relationships" id="263" r:id="Rd8f9ea9be3a64eb3"/>
    <p:sldId xmlns:r="http://schemas.openxmlformats.org/officeDocument/2006/relationships" id="264" r:id="R85f2645075bb485a"/>
    <p:sldId xmlns:r="http://schemas.openxmlformats.org/officeDocument/2006/relationships" id="265" r:id="Rd30647e34ead4c70"/>
    <p:sldId xmlns:r="http://schemas.openxmlformats.org/officeDocument/2006/relationships" id="266" r:id="Rc8e6b18d53bf44ad"/>
    <p:sldId xmlns:r="http://schemas.openxmlformats.org/officeDocument/2006/relationships" id="267" r:id="R36d3079ae67d4a22"/>
    <p:sldId xmlns:ns1="http://schemas.openxmlformats.org/officeDocument/2006/relationships" id="280" ns1:id="plsTeam17"/>
    <p:sldId xmlns:r="http://schemas.openxmlformats.org/officeDocument/2006/relationships" id="268" r:id="Rc11b9a7dc69a488d"/>
    <p:sldId xmlns:r="http://schemas.openxmlformats.org/officeDocument/2006/relationships" id="269" r:id="R4827d9b962854e0b"/>
    <p:sldId xmlns:r="http://schemas.openxmlformats.org/officeDocument/2006/relationships" id="270" r:id="Rab71fc998d31450a"/>
    <p:sldId xmlns:ns1="http://schemas.openxmlformats.org/officeDocument/2006/relationships" id="281" ns1:id="plsTeam18"/>
    <p:sldId xmlns:r="http://schemas.openxmlformats.org/officeDocument/2006/relationships" id="271" r:id="R2ccf5b6c89cc488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ed6b45f19e204907"/><Relationship Type="http://schemas.openxmlformats.org/officeDocument/2006/relationships/slideMaster" Target="/ppt/slideMasters/slideMaster1.xml" Id="R520c599c2eb34603"/><Relationship Type="http://schemas.openxmlformats.org/officeDocument/2006/relationships/notesMaster" Target="/ppt/notesMasters/notesMaster1.xml" Id="R8167fe03d2474bbb"/><Relationship Type="http://schemas.openxmlformats.org/officeDocument/2006/relationships/presProps" Target="/ppt/presProps.xml" Id="R06a67249076245f4"/><Relationship Type="http://schemas.openxmlformats.org/officeDocument/2006/relationships/tableStyles" Target="/ppt/tableStyles.xml" Id="R21b51be8be2c4b7b"/><Relationship Type="http://schemas.openxmlformats.org/officeDocument/2006/relationships/slide" Target="/ppt/slides/slide1.xml" Id="Ra13629cb8f4b4d7f"/><Relationship Type="http://schemas.openxmlformats.org/officeDocument/2006/relationships/slide" Target="/ppt/slides/slide2.xml" Id="R94fe435d035c4a93"/><Relationship Type="http://schemas.openxmlformats.org/officeDocument/2006/relationships/slide" Target="/ppt/slides/slide3.xml" Id="R8f553a962ef74bd5"/><Relationship Type="http://schemas.openxmlformats.org/officeDocument/2006/relationships/slide" Target="/ppt/slides/slide4.xml" Id="R05164cd67f6b4abf"/><Relationship Type="http://schemas.openxmlformats.org/officeDocument/2006/relationships/slide" Target="/ppt/slides/slide5.xml" Id="R60397d5ca24b4364"/><Relationship Type="http://schemas.openxmlformats.org/officeDocument/2006/relationships/slide" Target="/ppt/slides/slide6.xml" Id="R712562b7e2c245e1"/><Relationship Type="http://schemas.openxmlformats.org/officeDocument/2006/relationships/slide" Target="/ppt/slides/slide7.xml" Id="R0e68b33c889f451e"/><Relationship Type="http://schemas.openxmlformats.org/officeDocument/2006/relationships/slide" Target="/ppt/slides/slide8.xml" Id="Rd8f9ea9be3a64eb3"/><Relationship Type="http://schemas.openxmlformats.org/officeDocument/2006/relationships/slide" Target="/ppt/slides/slide9.xml" Id="R85f2645075bb485a"/><Relationship Type="http://schemas.openxmlformats.org/officeDocument/2006/relationships/slide" Target="/ppt/slides/slide10.xml" Id="Rd30647e34ead4c70"/><Relationship Type="http://schemas.openxmlformats.org/officeDocument/2006/relationships/slide" Target="/ppt/slides/slide11.xml" Id="Rc8e6b18d53bf44ad"/><Relationship Type="http://schemas.openxmlformats.org/officeDocument/2006/relationships/slide" Target="/ppt/slides/slide12.xml" Id="R36d3079ae67d4a22"/><Relationship Type="http://schemas.openxmlformats.org/officeDocument/2006/relationships/slide" Target="/ppt/slides/slide13.xml" Id="Rc11b9a7dc69a488d"/><Relationship Type="http://schemas.openxmlformats.org/officeDocument/2006/relationships/slide" Target="/ppt/slides/slide14.xml" Id="R4827d9b962854e0b"/><Relationship Type="http://schemas.openxmlformats.org/officeDocument/2006/relationships/slide" Target="/ppt/slides/slide15.xml" Id="Rab71fc998d31450a"/><Relationship Type="http://schemas.openxmlformats.org/officeDocument/2006/relationships/slide" Target="/ppt/slides/slide16.xml" Id="R2ccf5b6c89cc4881"/><Relationship Id="plsTeam17" Type="http://schemas.openxmlformats.org/officeDocument/2006/relationships/slide" Target="slides/slide17.xml"/><Relationship Id="plsTeam18" Type="http://schemas.openxmlformats.org/officeDocument/2006/relationships/slide" Target="slides/slide18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27512bf38f49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a85f42cc1f4615" /><Relationship Type="http://schemas.openxmlformats.org/officeDocument/2006/relationships/notesMaster" Target="/ppt/notesMasters/notesMaster1.xml" Id="R21127e4ff3fa47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df415a091491e" /><Relationship Type="http://schemas.openxmlformats.org/officeDocument/2006/relationships/notesMaster" Target="/ppt/notesMasters/notesMaster1.xml" Id="R71609f010e49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d18f08025f484b" /><Relationship Type="http://schemas.openxmlformats.org/officeDocument/2006/relationships/notesMaster" Target="/ppt/notesMasters/notesMaster1.xml" Id="Racfcc57eafd14c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f44eeb1fa4026" /><Relationship Type="http://schemas.openxmlformats.org/officeDocument/2006/relationships/notesMaster" Target="/ppt/notesMasters/notesMaster1.xml" Id="R64679af94cf842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eff93a85cc4598" /><Relationship Type="http://schemas.openxmlformats.org/officeDocument/2006/relationships/notesMaster" Target="/ppt/notesMasters/notesMaster1.xml" Id="R2783a8577c6841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7af7fb7f10460f" /><Relationship Type="http://schemas.openxmlformats.org/officeDocument/2006/relationships/notesMaster" Target="/ppt/notesMasters/notesMaster1.xml" Id="Rec19f100f67b4a9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076bb6f07f41fa" /><Relationship Type="http://schemas.openxmlformats.org/officeDocument/2006/relationships/notesMaster" Target="/ppt/notesMasters/notesMaster1.xml" Id="Rcfb0c9302b6046f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f5028288749a6" /><Relationship Type="http://schemas.openxmlformats.org/officeDocument/2006/relationships/notesMaster" Target="/ppt/notesMasters/notesMaster1.xml" Id="R36283578423446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ac356a40ec4b6a" /><Relationship Type="http://schemas.openxmlformats.org/officeDocument/2006/relationships/notesMaster" Target="/ppt/notesMasters/notesMaster1.xml" Id="Rde6a60b55f1c40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6cbc3c02a14845" /><Relationship Type="http://schemas.openxmlformats.org/officeDocument/2006/relationships/notesMaster" Target="/ppt/notesMasters/notesMaster1.xml" Id="Rac0eabe834724f1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3d3b4c7e9f04d06" /><Relationship Type="http://schemas.openxmlformats.org/officeDocument/2006/relationships/notesMaster" Target="/ppt/notesMasters/notesMaster1.xml" Id="R2c4a9d9592c849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75bf9291554f12" /><Relationship Type="http://schemas.openxmlformats.org/officeDocument/2006/relationships/notesMaster" Target="/ppt/notesMasters/notesMaster1.xml" Id="R9194568bed0944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481be7cd894955" /><Relationship Type="http://schemas.openxmlformats.org/officeDocument/2006/relationships/notesMaster" Target="/ppt/notesMasters/notesMaster1.xml" Id="R3c01f6a5b64343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af3db7d1be44ec3" /><Relationship Type="http://schemas.openxmlformats.org/officeDocument/2006/relationships/notesMaster" Target="/ppt/notesMasters/notesMaster1.xml" Id="Rfb958409398042e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7e0b933628468a" /><Relationship Type="http://schemas.openxmlformats.org/officeDocument/2006/relationships/notesMaster" Target="/ppt/notesMasters/notesMaster1.xml" Id="R8c172547172142f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63f5018b3c94337" /><Relationship Type="http://schemas.openxmlformats.org/officeDocument/2006/relationships/notesMaster" Target="/ppt/notesMasters/notesMaster1.xml" Id="Re37523ff811c4034" /></Relationships>
</file>

<file path=ppt/notesSlides/_rels/notesSlide17.xml.rels><?xml version='1.0' encoding='utf-8' standalone='yes'?>
<Relationships xmlns="http://schemas.openxmlformats.org/package/2006/relationships"><Relationship Type="http://schemas.openxmlformats.org/officeDocument/2006/relationships/slide" Target="../slides/slide17.xml" Id="Rb0481be7cd894955"/><Relationship Type="http://schemas.openxmlformats.org/officeDocument/2006/relationships/notesMaster" Target="/ppt/notesMasters/notesMaster1.xml" Id="R3c01f6a5b6434397"/></Relationships>
</file>

<file path=ppt/notesSlides/_rels/notesSlide18.xml.rels><?xml version='1.0' encoding='utf-8' standalone='yes'?>
<Relationships xmlns="http://schemas.openxmlformats.org/package/2006/relationships"><Relationship Type="http://schemas.openxmlformats.org/officeDocument/2006/relationships/slide" Target="../slides/slide18.xml" Id="Rb0481be7cd894955"/><Relationship Type="http://schemas.openxmlformats.org/officeDocument/2006/relationships/notesMaster" Target="/ppt/notesMasters/notesMaster1.xml" Id="R3c01f6a5b6434397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30分钟议程：第1页，0–0.5分钟（本页0.5分钟）。</ns0:t>
            </ns0:r>
          </ns0:p>
          <ns1:p xmlns:ns1="http://schemas.openxmlformats.org/drawingml/2006/main">
            <ns1:r>
              <ns1:t>开场建议：患者的目标已经从视力表延伸到阅读、工作、驾驶和生活。今天讨论医院如何把这些目标转化为稳定、可信、可追踪的专业服务。</ns1:t>
            </ns1:r>
          </ns1:p>
          <ns2:p xmlns:ns2="http://schemas.openxmlformats.org/drawingml/2006/main">
            <ns2:r>
              <ns2:t>合规提示：本次不是产品宣讲，不承诺疗效、手术量、收入或患者转化。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30分钟议程：第2页，0.5–1分钟（本页0.5分钟）。</ns0:t>
            </ns0:r>
          </ns0:p>
          <ns1:p xmlns:ns1="http://schemas.openxmlformats.org/drawingml/2006/main">
            <ns1:r>
              <ns1:t>这页建立全场决策主线。请院长先选一个最想讨论的问题，后面的内容都会回到这五个判断。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30分钟议程：第3页，1–2.5分钟（本页1.5分钟）。</ns0:t>
            </ns0:r>
          </ns0:p>
          <ns1:p xmlns:ns1="http://schemas.openxmlformats.org/drawingml/2006/main">
            <ns1:r>
              <ns1:t>定义时先讲中文名称和医院能力，再说明医疗边界。白内障和CLE/RLE共享能力系统，但适应证、替代方案与风险收益判断必须分别把关。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30分钟议程：第4页，2.5–3.5分钟（本页1分钟）。</ns0:t>
            </ns0:r>
          </ns0:p>
          <ns1:p xmlns:ns1="http://schemas.openxmlformats.org/drawingml/2006/main">
            <ns1:r>
              <ns1:t>这一页不使用未经核实的市场数字。把变化讲成院方能够观察到的患者问题和组织问题。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30分钟议程：第5页，3.5–4.5分钟（本页1分钟）。</ns0:t>
            </ns0:r>
          </ns0:p>
          <ns1:p xmlns:ns1="http://schemas.openxmlformats.org/drawingml/2006/main">
            <ns1:r>
              <ns1:t>依次解释：生活目标被记录；收益、局限、风险、费用与替代方案被说清；检查和手术标准可验证；患者可以选择、暂缓或改变方案；术后问题有人负责。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30分钟议程：第6页，4.5–5.5分钟（本页1分钟）。</ns0:t>
            </ns0:r>
          </ns0:p>
          <ns1:p xmlns:ns1="http://schemas.openxmlformats.org/drawingml/2006/main">
            <ns1:r>
              <ns1:t>经营价值必须放在患者价值之后。不要把自费比例或某一产品使用量作为唯一成功指标。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30分钟议程：第7页，5.5–6.5分钟（本页1分钟）。</ns0:t>
            </ns0:r>
          </ns0:p>
          <ns1:p xmlns:ns1="http://schemas.openxmlformats.org/drawingml/2006/main">
            <ns1:r>
              <ns1:t>医生价值不等于商业转化。重点是临床信心、可信团队输入和可复盘的专业成长。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30分钟议程：第8页，6.5–7.5分钟（本页1分钟）。</ns0:t>
            </ns0:r>
          </ns0:p>
          <ns1:p xmlns:ns1="http://schemas.openxmlformats.org/drawingml/2006/main">
            <ns1:r>
              <ns1:t>这一页主动讲清眼力健的商业身份和合作边界。透明比回避更能建立管理层信任。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30分钟议程：第9页，7.5–9.5分钟（本页2分钟）。</ns0:t>
            </ns0:r>
          </ns0:p>
          <ns1:p xmlns:ns1="http://schemas.openxmlformats.org/drawingml/2006/main">
            <ns1:r>
              <ns1:t>六大支柱是本套材料的核心骨架。可根据院方时间选择展开程度。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30分钟议程：第10页，9.5–11.5分钟（本页2分钟）。</ns0:t>
            </ns0:r>
          </ns0:p>
          <ns1:p xmlns:ns1="http://schemas.openxmlformats.org/drawingml/2006/main">
            <ns1:r>
              <ns1:t>共同决策的完成标准不是团队讲完了，而是患者能用自己的话说出目标、局限、替代方案、费用属性和术后联系路径。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30分钟议程：第11页，11.5–13.5分钟（本页2分钟）。</ns0:t>
            </ns0:r>
          </ns0:p>
          <ns1:p xmlns:ns1="http://schemas.openxmlformats.org/drawingml/2006/main">
            <ns1:r>
              <ns1:t>不要把基础医保路径与PLS路径讲成医疗质量高低。两条路径必须共享安全、质量和尊重患者的底线。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30分钟议程：第12页，13.5–15分钟（本页1.5分钟）。</ns0:t>
            </ns0:r>
          </ns0:p>
          <ns1:p xmlns:ns1="http://schemas.openxmlformats.org/drawingml/2006/main">
            <ns1:r>
              <ns1:t>每一步都有明确输出。医院完成本阶段的责任、行动和证据后，再进入下一步。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30分钟议程：第14页，18–20分钟（本页2分钟）。</ns0:t>
            </ns0:r>
          </ns0:p>
          <ns1:p xmlns:ns1="http://schemas.openxmlformats.org/drawingml/2006/main">
            <ns1:r>
              <ns1:t>前30天不追求一次铺开全部工作。先跑通一条完整路径，让团队知道如何协作。</ns1:t>
            </ns1:r>
          </ns1:p>
          <ns2:p xmlns:ns2="http://schemas.openxmlformats.org/drawingml/2006/main">
            <ns2:r>
              <ns2:t>以今天现场指定的名单为基础启动，不再把团队任命留给下一次会议。</ns2:t>
            </ns2:r>
          </ns2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30分钟议程：第15页，20–22分钟（本页2分钟）。</ns0:t>
            </ns0:r>
          </ns0:p>
          <ns1:p xmlns:ns1="http://schemas.openxmlformats.org/drawingml/2006/main">
            <ns1:r>
              <ns1:t>试运行是找问题，不是展示成绩。出现医学红线、风险复核缺失或患者理解不足时，应暂停并回到临床判断。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30分钟议程：第16页，22–24分钟（本页2分钟）。</ns0:t>
            </ns0:r>
          </ns0:p>
          <ns1:p xmlns:ns1="http://schemas.openxmlformats.org/drawingml/2006/main">
            <ns1:r>
              <ns1:t>CEO复盘顺序：本周期做了什么；是否真正应用；患者和团队发生什么变化；哪些流程需要调整；下一周期由谁完成。经营指标不能替代前三类结果。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30分钟议程：第18页，29–30分钟（本页1分钟）。</ns0:t>
            </ns0:r>
          </ns0:p>
          <ns1:p xmlns:ns1="http://schemas.openxmlformats.org/drawingml/2006/main">
            <ns1:r>
              <ns1:t>收尾1分钟。由记录人读回六类角色的成员名单及待落实事项；再确认三至五项行动的责任人、完成日期和验收证据，现场约定第30天复盘日期及召集人。会后院方项目负责人发送内部纪要，并组织成员逐一确认。强生眼力健PLS团队提供共创支持，院方保留管理、医疗与患者选择责任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30分钟议程：第13页，15–18分钟（本页3分钟）。</ns0:t>
            </ns0:r>
          </ns0:p>
          <ns1:p xmlns:ns1="http://schemas.openxmlformats.org/drawingml/2006/main">
            <ns1:r>
              <ns1:t>讲解3分钟。院方团队为1位项目负责人加5类核心角色，并非要求新招六人。逐项解释责任与交接。谈话、咨询、患教、客服和医助中的协调职能整合为患者旅程管理师。视光与检查可共同承担评估责任，护理负责医疗随访，旅程管理师负责提醒与完成追踪。兼任须具备资质、合理工作量及备岗。内容依据院方PLS团队设计及Digital PLS网站PLS试点团队模块。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ns0:p xmlns:ns0="http://schemas.openxmlformats.org/drawingml/2006/main">
            <ns0:r>
              <ns0:t>30分钟议程：第17页，24–29分钟（本页5分钟）。</ns0:t>
            </ns0:r>
          </ns0:p>
          <ns1:p xmlns:ns1="http://schemas.openxmlformats.org/drawingml/2006/main">
            <ns1:r>
              <ns1:t>现场指定与记录5分钟。请CEO与院长逐行指定主责成员的姓名、部门职务、备岗及到位日期，记录人直接填写本页原生表格。多人共同承担时在主责单元格补写协作成员及分工；每类仍需一个主责人。询问被指定成员能否承担、服务时段与专业授权是否满足。尚待落实时记录待定事项、落实责任人及明确日期，不能把待定写成已到位。记录人逐项读回，CEO或院长确认后保存截图或PPT至会议纪要。建议会前准备可参与的院方人员名单，以便现场指定。</ns1:t>
            </ns1:r>
          </ns1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f958e81dd345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99c8bd75d3444e" /><Relationship Type="http://schemas.openxmlformats.org/officeDocument/2006/relationships/slideLayout" Target="/ppt/slideLayouts/slideLayout1.xml" Id="Rfa7b94d0c8c145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b94d0c8c145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51c33917d4039" /><Relationship Type="http://schemas.openxmlformats.org/officeDocument/2006/relationships/image" Target="/ppt/media/image.png" Id="Rd27cbc32c7fe4a5f" /><Relationship Type="http://schemas.openxmlformats.org/officeDocument/2006/relationships/notesSlide" Target="/ppt/notesSlides/notesSlide1.xml" Id="R3c4e905b2e5a41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4863065014fd3" /><Relationship Type="http://schemas.openxmlformats.org/officeDocument/2006/relationships/image" Target="/ppt/media/image2.png" Id="Rff1b947770e141aa" /><Relationship Type="http://schemas.openxmlformats.org/officeDocument/2006/relationships/notesSlide" Target="/ppt/notesSlides/notesSlide2.xml" Id="Rdf115de06f6b4fa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fc43a34b64462" /><Relationship Type="http://schemas.openxmlformats.org/officeDocument/2006/relationships/image" Target="/ppt/media/image3.png" Id="R349be1739d634f9b" /><Relationship Type="http://schemas.openxmlformats.org/officeDocument/2006/relationships/notesSlide" Target="/ppt/notesSlides/notesSlide3.xml" Id="Rc605d91a740a4c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c92ef81ca4c9e" /><Relationship Type="http://schemas.openxmlformats.org/officeDocument/2006/relationships/image" Target="/ppt/media/image4.png" Id="Rc8a30a6040be46cb" /><Relationship Type="http://schemas.openxmlformats.org/officeDocument/2006/relationships/notesSlide" Target="/ppt/notesSlides/notesSlide4.xml" Id="R65c77c2c140d4e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fa489a8c74c41" /><Relationship Type="http://schemas.openxmlformats.org/officeDocument/2006/relationships/image" Target="/ppt/media/image5.png" Id="R39e3dff3a953453f" /><Relationship Type="http://schemas.openxmlformats.org/officeDocument/2006/relationships/notesSlide" Target="/ppt/notesSlides/notesSlide5.xml" Id="Rc27f926e9f9740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663dbbb4fa4b47" /><Relationship Type="http://schemas.openxmlformats.org/officeDocument/2006/relationships/image" Target="/ppt/media/image6.png" Id="Rd65099e283ed47c7" /><Relationship Type="http://schemas.openxmlformats.org/officeDocument/2006/relationships/notesSlide" Target="/ppt/notesSlides/notesSlide6.xml" Id="Rda975211d05c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7befad4d44d70" /><Relationship Type="http://schemas.openxmlformats.org/officeDocument/2006/relationships/image" Target="/ppt/media/image7.png" Id="Rca828d6237ad42d1" /><Relationship Type="http://schemas.openxmlformats.org/officeDocument/2006/relationships/notesSlide" Target="/ppt/notesSlides/notesSlide7.xml" Id="R66189b855cc54f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b0b7f80074250" /><Relationship Type="http://schemas.openxmlformats.org/officeDocument/2006/relationships/image" Target="/ppt/media/image8.png" Id="R1c46b8a5e4f84928" /><Relationship Type="http://schemas.openxmlformats.org/officeDocument/2006/relationships/notesSlide" Target="/ppt/notesSlides/notesSlide8.xml" Id="Rfaccd6931b304a9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9516ac4fe4c05" /><Relationship Type="http://schemas.openxmlformats.org/officeDocument/2006/relationships/image" Target="/ppt/media/image9.png" Id="Rb689b0b260434f90" /><Relationship Type="http://schemas.openxmlformats.org/officeDocument/2006/relationships/notesSlide" Target="/ppt/notesSlides/notesSlide9.xml" Id="R9cd5368c42ac4a3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6471bfe83842a7" /><Relationship Type="http://schemas.openxmlformats.org/officeDocument/2006/relationships/image" Target="/ppt/media/image10.png" Id="Rab51bb2a50364250" /><Relationship Type="http://schemas.openxmlformats.org/officeDocument/2006/relationships/notesSlide" Target="/ppt/notesSlides/notesSlide10.xml" Id="R7b8ba15c8a88449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79ece1197a4513" /><Relationship Type="http://schemas.openxmlformats.org/officeDocument/2006/relationships/image" Target="/ppt/media/image11.png" Id="Rfa342ac70c3b4d07" /><Relationship Type="http://schemas.openxmlformats.org/officeDocument/2006/relationships/notesSlide" Target="/ppt/notesSlides/notesSlide11.xml" Id="R948afd159cbe40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86566b90545e8" /><Relationship Type="http://schemas.openxmlformats.org/officeDocument/2006/relationships/image" Target="/ppt/media/image12.png" Id="R1db527da4ccd4986" /><Relationship Type="http://schemas.openxmlformats.org/officeDocument/2006/relationships/notesSlide" Target="/ppt/notesSlides/notesSlide12.xml" Id="R38724240563946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a130c92664a2e" /><Relationship Type="http://schemas.openxmlformats.org/officeDocument/2006/relationships/image" Target="/ppt/media/image13.png" Id="R862010f0dd7b411c" /><Relationship Type="http://schemas.openxmlformats.org/officeDocument/2006/relationships/notesSlide" Target="/ppt/notesSlides/notesSlide13.xml" Id="R268408b4f3314a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f2b33420254351" /><Relationship Type="http://schemas.openxmlformats.org/officeDocument/2006/relationships/image" Target="/ppt/media/image14.png" Id="Rfb00405c2dde4fb3" /><Relationship Type="http://schemas.openxmlformats.org/officeDocument/2006/relationships/image" Target="/ppt/media/image15.png" Id="R4bb060b5c0894dba" /><Relationship Type="http://schemas.openxmlformats.org/officeDocument/2006/relationships/notesSlide" Target="/ppt/notesSlides/notesSlide14.xml" Id="Ra075ddd212af45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10d26291c4c66" /><Relationship Type="http://schemas.openxmlformats.org/officeDocument/2006/relationships/image" Target="/ppt/media/image16.png" Id="R7389cf790e0d4527" /><Relationship Type="http://schemas.openxmlformats.org/officeDocument/2006/relationships/notesSlide" Target="/ppt/notesSlides/notesSlide15.xml" Id="R51b518db74f748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e0b9fb30414511" /><Relationship Type="http://schemas.openxmlformats.org/officeDocument/2006/relationships/image" Target="/ppt/media/image17.png" Id="Rd92bd964f6d640a0" /><Relationship Type="http://schemas.openxmlformats.org/officeDocument/2006/relationships/notesSlide" Target="/ppt/notesSlides/notesSlide16.xml" Id="R7efe11ac5f2247be" 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9ea130c92664a2e"/><Relationship Type="http://schemas.openxmlformats.org/officeDocument/2006/relationships/image" Target="/ppt/media/image13.png" Id="R862010f0dd7b411c"/><Relationship Id="plsNotes1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1.xml" Id="Rf9ea130c92664a2e"/><Relationship Type="http://schemas.openxmlformats.org/officeDocument/2006/relationships/image" Target="/ppt/media/image13.png" Id="R862010f0dd7b411c"/><Relationship Id="plsNotes18" Type="http://schemas.openxmlformats.org/officeDocument/2006/relationships/notesSlide" Target="../notesSlides/notesSlide18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E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42493-1DBD-48D6-A819-C2A9A31CB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C6594E-3DED-45BD-8455-C826A5C75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7D4F9-3076-407A-A426-CB5E0DDE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239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C9D8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 i="0">
                <a:solidFill>
                  <a:srgbClr val="C9D8EA"/>
                </a:solidFill>
                <a:latin typeface="Microsoft YaHei"/>
                <a:ea typeface="Microsoft YaHei"/>
                <a:cs typeface="Microsoft YaHei"/>
              </a:rPr>
              <a:t>民营眼科医院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0041D1-7AF6-4D75-9BAD-D2C5B2A7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8953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Digital PLS 体系建设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CE625C-52AD-486F-A365-A22A4BD42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rPr>
              <a:t>连接患者旅程、临床协作与医院能力建设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ABF005-A5CC-4A4A-B18E-6B42E1F9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AA1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1314D-DBE9-49A8-BC05-9DA13B32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C9D8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C9D8EA"/>
                </a:solidFill>
                <a:latin typeface="Microsoft YaHei"/>
                <a:ea typeface="Microsoft YaHei"/>
                <a:cs typeface="Microsoft YaHei"/>
              </a:rPr>
              <a:t>30分钟院方研讨会介绍版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cbc32c7fe4a5f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ABFC5-E310-44F9-9EAA-37937597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</p:spTree>
    <p:extLst>
      <p:ext uri="{BB962C8B-B14F-4D97-AF65-F5344CB8AC3E}">
        <p14:creationId xmlns:p14="http://schemas.microsoft.com/office/powerpoint/2010/main" val="16351191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91A05-D6A5-4E2E-8A2C-33846D1A0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94D34-BF9E-414D-A4C3-618D047D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CEO需要回答的五个问题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1b947770e141aa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B952C8-EBFE-4936-AC60-CFF9B29DA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A7474-9469-457A-A184-1C4BC2DF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62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为什么做：患者和医院需要解决什么问题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凭什么做：本院的临床与团队能力是否准备好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先做什么：第一批三至五项行动如何选择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如何交付：六类责任怎样协作，现场由谁承担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如何证明：哪些结果支持继续扩大</a:t>
            </a:r>
          </a:p>
        </p:txBody>
      </p:sp>
    </p:spTree>
    <p:extLst>
      <p:ext uri="{BB962C8B-B14F-4D97-AF65-F5344CB8AC3E}">
        <p14:creationId xmlns:p14="http://schemas.microsoft.com/office/powerpoint/2010/main" val="1180165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CD6F7-E5AB-4822-977C-F8778809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F8ACE-1B61-4DE0-89A4-FF43C019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PLS晶状体卓越诊疗体系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be1739d634f9b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AD835-8A93-4EFE-A610-A95569BA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341B5C-AD32-4B46-95E3-5CFE6DD1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682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PLS是Premium Lens Surgery的缩写，围绕白内障与屈光性透明晶体置换，包括符合适应证的老视矫正，建设全流程医院专业能力。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9ED9ED-72D1-4135-8EE9-D9B3690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990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范围覆盖患者评估、共同决策、精准手术与术后管理。它不等同于单一产品、高价IOL项目或全自费营销。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E2972-D9D3-4424-9F03-8CAF94A2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24A"/>
          </a:solidFill>
          <a:ln xmlns:a="http://schemas.openxmlformats.org/drawingml/2006/main" w="0">
            <a:solidFill>
              <a:srgbClr val="16724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一句话：PLS是从患者评估到术后管理的全流程医院专业能力</a:t>
            </a:r>
          </a:p>
        </p:txBody>
      </p:sp>
    </p:spTree>
    <p:extLst>
      <p:ext uri="{BB962C8B-B14F-4D97-AF65-F5344CB8AC3E}">
        <p14:creationId xmlns:p14="http://schemas.microsoft.com/office/powerpoint/2010/main" val="11043312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2C977-5C0C-4FED-8E04-DDB6AE58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C1FDF-368A-489B-9734-CBAB2CFB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患者目标已经走出视力表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a30a6040be46cb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83F93B-4467-4AF3-A37D-726052A7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B924B-C8A5-4569-91DA-F6C81407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62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患者关心阅读、屏幕、夜间驾驶等真实生活任务，不只关心能否看见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方案越复杂，越需要把获益、局限、风险、费用和替代方案解释清楚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医院的竞争力取决于整条路径能否稳定交付，而不只取决于某位医生或某枚晶体</a:t>
            </a:r>
          </a:p>
        </p:txBody>
      </p:sp>
    </p:spTree>
    <p:extLst>
      <p:ext uri="{BB962C8B-B14F-4D97-AF65-F5344CB8AC3E}">
        <p14:creationId xmlns:p14="http://schemas.microsoft.com/office/powerpoint/2010/main" val="2719229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7AB6FC-9300-4CC8-9C7D-F6E8CA60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6FEA8-1349-439D-B09F-4F531BB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患者愿意为哪一种价值作出选择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3dff3a953453f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95032-A536-4EBB-82DA-37CA3179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FF2EB6-8C95-4994-AACD-0096C3A09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8D702F-8207-4D4F-9F67-7A0B1344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42E4FB-6E34-4D09-A5C6-E82E8EF7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295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看见需要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463814-45B3-419C-8B34-5AA4368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31BC45-9B66-4144-9B0D-DE4F4F3B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9812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F2F948-9478-412E-85E5-D05B49E98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81250"/>
            <a:ext cx="1295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理解选择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CC7B1-D434-4D04-888C-08E8EF05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097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D6EA6E-63CF-4C93-BA33-C37E344A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812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48B3FD-97E6-4762-A053-A72109A5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295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相信交付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06D22D-5C72-4E7B-A8BD-1176D0E3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097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A4210-88D4-4E90-BDC6-C40C8185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812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15B166-F7D1-421B-AE4D-5B0279DD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295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安心决定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DA8B9A-F175-44E4-AF0E-0E49E6CE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09750"/>
            <a:ext cx="171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D2AEE3-5404-4670-8055-113AF432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812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DB5C05-4085-47FC-872E-5DE74C118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295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持续负责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BA72C-CF6F-4314-B0B8-D66ABA3D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6250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患者支付的不是一枚更贵的晶体，而是一套值得信任的专业价值。</a:t>
            </a:r>
          </a:p>
        </p:txBody>
      </p:sp>
    </p:spTree>
    <p:extLst>
      <p:ext uri="{BB962C8B-B14F-4D97-AF65-F5344CB8AC3E}">
        <p14:creationId xmlns:p14="http://schemas.microsoft.com/office/powerpoint/2010/main" val="4014270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4DA2B-6C28-46A3-9F44-6375A92E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097525-9A24-4FB0-ADDA-3BC4366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PLS给医院带来的价值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5099e283ed47c7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D18754-1538-458D-B4A9-6C5626AA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1A629-A77D-413E-82F5-B4108296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6F"/>
          </a:solidFill>
          <a:ln xmlns:a="http://schemas.openxmlformats.org/drawingml/2006/main" w="0">
            <a:solidFill>
              <a:srgbClr val="163E6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F5BFEE-DC00-40A1-B474-2B6D0F95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把患者旅程、岗位交接和质量复盘沉淀为医院标准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948AE8-1A8A-404A-B011-575E94C6D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24A"/>
          </a:solidFill>
          <a:ln xmlns:a="http://schemas.openxmlformats.org/drawingml/2006/main" w="0">
            <a:solidFill>
              <a:srgbClr val="16724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品牌信任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B79E07-A807-475C-8DF0-BB08AA9C6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让费用透明、选择自主和术后负责成为可感知的差异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3E99E9-801F-404B-B0EE-3F8261D5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经营健康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FE92EB-BEE6-4E23-B9C5-130E0A1F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在医疗质量与患者价值成立后，评估服务产能和合理贡献</a:t>
            </a:r>
          </a:p>
        </p:txBody>
      </p:sp>
    </p:spTree>
    <p:extLst>
      <p:ext uri="{BB962C8B-B14F-4D97-AF65-F5344CB8AC3E}">
        <p14:creationId xmlns:p14="http://schemas.microsoft.com/office/powerpoint/2010/main" val="14115391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967968-002A-4D4A-8E98-D62FB2E0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43DF1-E78F-4E95-9757-45C0160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PLS给医生和团队带来的价值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828d6237ad42d1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268CA-2AE1-4B36-B342-013851519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5B68A-6008-4DCF-A07C-5E1138F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6F"/>
          </a:solidFill>
          <a:ln xmlns:a="http://schemas.openxmlformats.org/drawingml/2006/main" w="0">
            <a:solidFill>
              <a:srgbClr val="163E6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4901B-AAA2-4F31-9768-E1E058D27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获得完整检查、需求摘要和风险复核，把时间用于临床判断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F08351-93EA-41A6-8681-C6CDE851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24A"/>
          </a:solidFill>
          <a:ln xmlns:a="http://schemas.openxmlformats.org/drawingml/2006/main" w="0">
            <a:solidFill>
              <a:srgbClr val="16724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136634-0988-4839-9A5B-6F22E632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每个岗位知道何时记录、交接、升级与随访，减少信息断点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ED443-0469-4517-B0AF-36FD90DB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专业成长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D73F0-79BF-4713-88A5-074847FF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通过病例复盘、患者报告结果和异常案例持续改进</a:t>
            </a:r>
          </a:p>
        </p:txBody>
      </p:sp>
    </p:spTree>
    <p:extLst>
      <p:ext uri="{BB962C8B-B14F-4D97-AF65-F5344CB8AC3E}">
        <p14:creationId xmlns:p14="http://schemas.microsoft.com/office/powerpoint/2010/main" val="8485426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5D781B-0FE0-4E96-A2C2-23B5AB2F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875EC3-2813-45F6-A3FA-7EC95C73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PLS合作的三条底线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6b8a5e4f84928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8806B-6561-4D0A-ADAA-90D6CEC7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660FD-6C0D-45CE-A9F4-100E59C7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24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6F"/>
          </a:solidFill>
          <a:ln xmlns:a="http://schemas.openxmlformats.org/drawingml/2006/main" w="0">
            <a:solidFill>
              <a:srgbClr val="163E6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医院能力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58B0E9-7D35-4F53-8916-5E40DCC6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4763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项目结束后，流程、工具和经验留在院内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60DD2-801A-45F4-A673-243ECE1D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24A"/>
          </a:solidFill>
          <a:ln xmlns:a="http://schemas.openxmlformats.org/drawingml/2006/main" w="0">
            <a:solidFill>
              <a:srgbClr val="16724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临床决策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30D58-3161-4FFC-8A9E-74E6A0E2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336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属于医生，不以某一IOL或设备作为PLS前提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1DED6-6703-434A-B4C9-4B4AAB8F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患者选择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2B759-7374-4331-807C-F8016AFB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990975"/>
            <a:ext cx="685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属于充分知情的患者，可以选择、暂缓或寻求第二意见</a:t>
            </a:r>
          </a:p>
        </p:txBody>
      </p:sp>
    </p:spTree>
    <p:extLst>
      <p:ext uri="{BB962C8B-B14F-4D97-AF65-F5344CB8AC3E}">
        <p14:creationId xmlns:p14="http://schemas.microsoft.com/office/powerpoint/2010/main" val="41811711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1441E9-D2E1-4BF4-A1FB-3726E7FD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03DC30-B884-4766-A85C-1966E27C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六大支柱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9b0b260434f90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63AE9E-566B-4332-93F4-D7384DDE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2BF92-DE7A-4576-ADEE-69AB6DE3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24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A7025-EB56-4BFF-8B32-9FB60043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95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支柱一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78AB70-93B2-4E24-8817-D96A044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临床卓越基础建设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6A3097-22AA-4142-BDEA-F025406B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819C51-C48D-4ADC-88E1-81A45C15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95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rPr>
              <a:t>支柱二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8B785-BA69-4A23-B215-DCCF2DD5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955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MDT 团队建设与全员理念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C16738-5B82-42B6-A40F-60F2C4C6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24000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AA779-E36B-40A6-BDF5-E394A71D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支柱三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4476E9-9C51-4352-8CC0-38F9B690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095500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标准化诊疗 SOP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11691C-BB6D-4A1F-BF04-BECEDD12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F79715-4B27-427E-9FBC-3F599AE0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385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rPr>
              <a:t>支柱四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5E867-9B58-44A4-A4E4-E558AF10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38625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患者教育与体验设计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85984-F2D6-4FA9-9681-E4ADE704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671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316656-C544-49FE-8B62-66511C84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385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rPr>
              <a:t>支柱五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F0406-C361-400F-BD25-91C9191B6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38625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透明价值沟通与方案体系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8E4FF-82BE-4CED-AED6-10B5D674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6671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DB160-4833-44D1-84E7-E0A2B3AE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385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2F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0F2F5D"/>
                </a:solidFill>
                <a:latin typeface="Microsoft YaHei"/>
                <a:ea typeface="Microsoft YaHei"/>
                <a:cs typeface="Microsoft YaHei"/>
              </a:rPr>
              <a:t>支柱六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8579E1-72E4-40E4-B928-82F8573F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38625"/>
            <a:ext cx="2438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患者信任、口碑与转介绍体系</a:t>
            </a:r>
          </a:p>
        </p:txBody>
      </p:sp>
    </p:spTree>
    <p:extLst>
      <p:ext uri="{BB962C8B-B14F-4D97-AF65-F5344CB8AC3E}">
        <p14:creationId xmlns:p14="http://schemas.microsoft.com/office/powerpoint/2010/main" val="2646838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33AA92-341E-4F21-8A9F-12F2E7C0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17720-D5AB-4ABB-9EFA-AD55D238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IDEAL患者共同决策五步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51bb2a50364250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F1FE3E-9169-4D5D-827A-1E6AAC61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A7B39E-E5E1-45FF-8DE7-9C545A0A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1714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997CED-2F45-45E2-A343-D3E6E45F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669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01B932-C83E-41D3-A559-D39B6D0D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295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Identify 识别就诊动机与临床问题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65E642-E1A4-40C3-A82D-1DAC7FC0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95450"/>
            <a:ext cx="1714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0C0DB-03C8-4191-9211-5BA86EAC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8669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9E020-CD53-4D5A-A76F-E0D233B0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266950"/>
            <a:ext cx="1295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Discover 探索生活场景、检查结果与风险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73BD1E-1216-4399-B3EA-E96D0F75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695450"/>
            <a:ext cx="1714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69C82-1A51-459C-954C-3469DC2B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669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77E8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42946-F9FA-4C32-AC76-419A20D1F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66950"/>
            <a:ext cx="1295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Educate 解释可选方案、获益与局限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4F3AB-FDD9-4D88-9B65-5B624C63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695450"/>
            <a:ext cx="1714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893D64-6EB3-41FA-B915-E5666284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8669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B23A4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6BA1D-DA50-46DF-B4D5-071CACEC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66950"/>
            <a:ext cx="1295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Align 确认患者理解、偏好与共识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9763A-8562-4150-B85A-CCABBA5F2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695450"/>
            <a:ext cx="1714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4D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2CB686-E980-4A61-B580-85AFE006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866900"/>
            <a:ext cx="129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A503F-40BD-46EE-A3BD-C66F05C2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266950"/>
            <a:ext cx="129540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Lifestyle Vision Plan 形成视觉计划与随访安排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92CBA-C807-481D-A3E4-48F05BFE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IDEAL是前台患者路径，六大支柱是后台能力系统。</a:t>
            </a:r>
          </a:p>
        </p:txBody>
      </p:sp>
    </p:spTree>
    <p:extLst>
      <p:ext uri="{BB962C8B-B14F-4D97-AF65-F5344CB8AC3E}">
        <p14:creationId xmlns:p14="http://schemas.microsoft.com/office/powerpoint/2010/main" val="1224151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BE89-1666-42EE-8068-91554D71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AD78D0-AEF4-43DB-AFAB-A0B16E91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两条路径，共享同一条医学底线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342ac70c3b4d07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5F05F-9ADE-4B26-8DFA-D8EC2F53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B8F120-F514-4815-995E-0383628F9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62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统一入口与共享基础检查，先完成医生初诊和简版视觉需求评估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基础诊疗路径守住安全复明与可及性，PLS深度评估回应适合患者的个体化视觉需求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分流依据是临床适应证、视觉需求与知情选择，不是收入、职业或支付能力</a:t>
            </a:r>
          </a:p>
        </p:txBody>
      </p:sp>
    </p:spTree>
    <p:extLst>
      <p:ext uri="{BB962C8B-B14F-4D97-AF65-F5344CB8AC3E}">
        <p14:creationId xmlns:p14="http://schemas.microsoft.com/office/powerpoint/2010/main" val="8873304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9B0BE1-80DD-4A08-887E-161E7918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92A65-011B-4A6C-933D-A9769870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一家医院的七步建设路线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527da4ccd4986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13716F-71D0-416D-8F6B-96DDAC45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0914C-EDF7-421D-A125-22EC8C8E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62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认识PLS：CEO理解定位与边界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项目启动：CEO与院长现场指定六类责任成员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基线自评：看见六大支柱差距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30天行动：选定三至五项重点任务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流程实施：各部门围绕患者完成交接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复盘改进：第30、60、90天查看证据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固化与认证：形成SOP、运行记录与持续改进</a:t>
            </a:r>
          </a:p>
        </p:txBody>
      </p:sp>
    </p:spTree>
    <p:extLst>
      <p:ext uri="{BB962C8B-B14F-4D97-AF65-F5344CB8AC3E}">
        <p14:creationId xmlns:p14="http://schemas.microsoft.com/office/powerpoint/2010/main" val="485914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0F5DF3-D822-48C9-8C38-B9B4005E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600DB-F5A3-4160-9C1B-51840EA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第1至30天：建立最小可运行流程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010f0dd7b411c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2AEA4-FE78-4FDC-A68C-80190C7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45952-E830-45A4-878B-2E863D99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9620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按现场确认名单落实主责、备岗与服务时段，完成基线自评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选择三至五项重点，试运行需求访谈、检查复核、交接与随访升级</a:t>
            </a:r>
          </a:p>
          <a:p xmlns:a="http://schemas.openxmlformats.org/drawingml/2006/main">
            <a:pPr marL="228600" indent="-101600">
              <a:spcAft>
                <a:spcPts val="1400"/>
              </a:spcAft>
              <a:buChar char="•"/>
              <a:def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每项行动写清责任人、完成时间和验收证据</a:t>
            </a:r>
          </a:p>
        </p:txBody>
      </p:sp>
    </p:spTree>
    <p:extLst>
      <p:ext uri="{BB962C8B-B14F-4D97-AF65-F5344CB8AC3E}">
        <p14:creationId xmlns:p14="http://schemas.microsoft.com/office/powerpoint/2010/main" val="4321268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3214C-46FB-4DAE-BAF6-E6A302C4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396EA-DEB7-44AC-BAED-07369ACA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第31至60天：小规模试运行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00405c2dde4fb3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AE64D-9486-4980-8A36-EA8541DA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060b5c0894dba"/>
          <a:stretch xmlns:a="http://schemas.openxmlformats.org/drawingml/2006/main"/>
        </p:blipFill>
        <p:spPr>
          <a:xfrm xmlns:a="http://schemas.openxmlformats.org/drawingml/2006/main">
            <a:off x="6858000" y="2288540"/>
            <a:ext cx="3905250" cy="161417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3DBBF9-13D7-4195-BA21-FBF207B9C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524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在选定门诊场景运行筛查、共同决策、手术核查与随访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检查全程联系、专业交接及异常升级；按工作量调整兼任与备岗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用真实问题修订流程、培训重点和患者沟通材料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80D37-5071-4148-A373-B80E1718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16724A"/>
                </a:solidFill>
                <a:latin typeface="Microsoft YaHei"/>
                <a:ea typeface="Microsoft YaHei"/>
                <a:cs typeface="Microsoft YaHei"/>
              </a:rPr>
              <a:t>用真实患者路径发现断点，用每周复盘及时修正。</a:t>
            </a:r>
          </a:p>
        </p:txBody>
      </p:sp>
    </p:spTree>
    <p:extLst>
      <p:ext uri="{BB962C8B-B14F-4D97-AF65-F5344CB8AC3E}">
        <p14:creationId xmlns:p14="http://schemas.microsoft.com/office/powerpoint/2010/main" val="9400733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2ED788-DF40-477E-8530-9748A05E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7787D-08BC-4682-A44E-2EA6E069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第61至90天：复盘、固化、再决定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9cf790e0d4527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3DD815-600D-445F-A6F9-FA8ADC0A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272D5-F604-4DE0-AA06-7FB73EBD5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E6F"/>
          </a:solidFill>
          <a:ln xmlns:a="http://schemas.openxmlformats.org/drawingml/2006/main" w="0">
            <a:solidFill>
              <a:srgbClr val="163E6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医疗质量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BB2DA5-77DE-4AA4-8C97-4337A05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3716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检查完整、风险复核、医生确认与手术质量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E3C057-D03A-4A6C-8720-8CD37EA3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24A"/>
          </a:solidFill>
          <a:ln xmlns:a="http://schemas.openxmlformats.org/drawingml/2006/main" w="0">
            <a:solidFill>
              <a:srgbClr val="16724A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患者价值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27291-FA99-4A75-BF65-CFEAAE62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需求记录、理解确认、自主选择与患者报告结果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7D424-D985-4699-AE82-C896531F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E89"/>
          </a:solidFill>
          <a:ln xmlns:a="http://schemas.openxmlformats.org/drawingml/2006/main" w="0">
            <a:solidFill>
              <a:srgbClr val="177E89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服务体验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0E859A-6D5B-4548-A03D-9150A0D0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242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岗位与备岗覆盖、交接缺漏、随访完成与异常闭环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0FE2B-6F74-4B4A-8354-5B5EE72E4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16954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经营健康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8643A4-0C07-4CCA-8E14-1E6341CF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005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17212B"/>
                </a:solidFill>
                <a:latin typeface="Microsoft YaHei"/>
                <a:ea typeface="Microsoft YaHei"/>
                <a:cs typeface="Microsoft YaHei"/>
              </a:rPr>
              <a:t>患者来源、服务产能、行动落实与合理贡献</a:t>
            </a:r>
          </a:p>
        </p:txBody>
      </p:sp>
    </p:spTree>
    <p:extLst>
      <p:ext uri="{BB962C8B-B14F-4D97-AF65-F5344CB8AC3E}">
        <p14:creationId xmlns:p14="http://schemas.microsoft.com/office/powerpoint/2010/main" val="16207860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63E6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10F7A2-19E8-4853-A182-DA46AB60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1C82CB-F685-4615-BB3E-2E7A9F2F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14400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E6AA16"/>
                </a:solidFill>
                <a:latin typeface="Microsoft YaHei"/>
                <a:ea typeface="Microsoft YaHei"/>
                <a:cs typeface="Microsoft YaHei"/>
              </a:rPr>
              <a:t>会议现场确认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E7DC7-9A4D-44BF-8ED2-BF9B93E8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0"/>
          </a:bodyPr>
          <a:lstStyle xmlns:a="http://schemas.openxmlformats.org/drawingml/2006/main"/>
          <a:p xmlns:a="http://schemas.openxmlformats.org/drawingml/2006/main">
            <a:pPr>
              <a:def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明确院方团队成员，启动第一轮30天行动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8D63D-D523-4F26-9AC4-1EC9B74B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876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rPr>
              <a:t>成员名单：CEO与院长确认六类角色主责、协作成员、备岗与到位时间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rPr>
              <a:t>优先行动：选定三至五项任务，逐项写明责任人、完成日期与验收证据</a:t>
            </a:r>
          </a:p>
          <a:p xmlns:a="http://schemas.openxmlformats.org/drawingml/2006/main">
            <a:pPr marL="228600" indent="-101600">
              <a:spcAft>
                <a:spcPts val="1000"/>
              </a:spcAft>
              <a:buChar char="•"/>
              <a:def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E7EFF8"/>
                </a:solidFill>
                <a:latin typeface="Microsoft YaHei"/>
                <a:ea typeface="Microsoft YaHei"/>
                <a:cs typeface="Microsoft YaHei"/>
              </a:rPr>
              <a:t>首次复盘：现场确定第30天日期与召集人，由记录人读回并纳入纪要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36652-B29F-4709-A75E-BAD83113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强生眼力健PLS项目咨询专家组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bd964f6d640a0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E2B09-71D3-4534-88F7-4B90CD38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FD0E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</p:spTree>
    <p:extLst>
      <p:ext uri="{BB962C8B-B14F-4D97-AF65-F5344CB8AC3E}">
        <p14:creationId xmlns:p14="http://schemas.microsoft.com/office/powerpoint/2010/main" val="20914263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5DF3-D822-48C9-8C38-B9B4005E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600DB-F5A3-4160-9C1B-51840EA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院方PLS团队角色与分工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010f0dd7b411c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AEA4-FE78-4FDC-A68C-80190C7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6E56BB-9671-44AA-B0FA-7E89CC9E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163E6F"/>
                </a:solidFill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63E6F"/>
                </a:solidFill>
              </a:defRPr>
            </a:pPr>
            <a:r>
              <a:rPr sz="1875" b="1">
                <a:solidFill>
                  <a:srgbClr val="163E6F"/>
                </a:solidFill>
              </a:rPr>
              <a:t>1位项目负责人 + 5类核心角色；六类责任可由现有人员兼任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33F4E-D7E4-4A8B-B610-E50ECE3B6FF9}"/>
              </a:ext>
            </a:extLst>
          </p:cNvPr>
          <p:cNvGraphicFramePr/>
          <p:nvPr/>
        </p:nvGraphicFramePr>
        <p:xfrm>
          <a:off xmlns:a="http://schemas.openxmlformats.org/drawingml/2006/main" x="590550" y="1657350"/>
          <a:ext xmlns:a="http://schemas.openxmlformats.org/drawingml/2006/main" cx="110109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57450"/>
                <a:gridCol w="4171950"/>
                <a:gridCol w="438150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院方角色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承担的工作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交付与交接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PLS项目负责人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任命成员与备岗、协调资源、组织复盘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分工表、资源安排、整改清单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临床主诊医生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适应证、方案、医疗告知与异常处置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医学方案、风险记录、复查处置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视觉质量评估角色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规范检查、质量复核、整合需求摘要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检查结果、缺项与风险标记 → 医生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患者旅程管理师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需求访谈、患教、预约及费用协调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需求与理解记录、全程联系与问题升级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手术质量与护理协调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手术核查、护理、出院指导、专业随访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核查、护理及随访记录 → 医生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运营与合规支持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费用核对、材料审核、运行数据与整改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统一费用口径、匿名报表、审核证据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49C08D-43A0-4BED-96B0-834CBD076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101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6C51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6C51"/>
                </a:solidFill>
              </a:defRPr>
            </a:pPr>
            <a:r>
              <a:rPr sz="1800" b="1">
                <a:solidFill>
                  <a:srgbClr val="176C51"/>
                </a:solidFill>
              </a:rPr>
              <a:t>谈话、咨询、患教、客服及医助中的协调工作，整合为“患者旅程管理师”。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F5FD78-68D2-4294-A2C9-E80503E5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7086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086"/>
                </a:solidFill>
              </a:defRPr>
            </a:pPr>
            <a:r>
              <a:rPr sz="1575" b="0">
                <a:solidFill>
                  <a:srgbClr val="607086"/>
                </a:solidFill>
              </a:rPr>
              <a:t>医疗、专业检查与护理按资质授权执行；医生承担最终医学判断，患者保留自主选择权。</a:t>
            </a:r>
          </a:p>
        </p:txBody>
      </p:sp>
    </p:spTree>
    <p:extLst>
      <p:ext uri="{BB962C8B-B14F-4D97-AF65-F5344CB8AC3E}">
        <p14:creationId xmlns:p14="http://schemas.microsoft.com/office/powerpoint/2010/main" val="4321268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0F5DF3-D822-48C9-8C38-B9B4005E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16"/>
          </a:solidFill>
          <a:ln xmlns:a="http://schemas.openxmlformats.org/drawingml/2006/main" w="0">
            <a:solidFill>
              <a:srgbClr val="E6AA1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600DB-F5A3-4160-9C1B-51840EAC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910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163E6F"/>
                </a:solidFill>
                <a:latin typeface="Microsoft YaHei"/>
                <a:ea typeface="Microsoft YaHei"/>
                <a:cs typeface="Microsoft YaHei"/>
              </a:rPr>
              <a:t>现场指定院方PLS团队成员</a:t>
            </a:r>
          </a:p>
        </p:txBody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010f0dd7b411c"/>
          <a:stretch xmlns:a="http://schemas.openxmlformats.org/drawingml/2006/main"/>
        </p:blipFill>
        <p:spPr>
          <a:xfrm xmlns:a="http://schemas.openxmlformats.org/drawingml/2006/main">
            <a:off x="10287000" y="352758"/>
            <a:ext cx="1333500" cy="38033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22AEA4-FE78-4FDC-A68C-80190C7E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607086"/>
                </a:solidFill>
                <a:latin typeface="Microsoft YaHei"/>
                <a:ea typeface="Microsoft YaHei"/>
                <a:cs typeface="Microsoft YaHei"/>
              </a:rPr>
              <a:t>强生眼力健 PLS 项目研讨会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0A61C3-EA3B-4038-AA65-F93EA4F1A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95375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63E6F"/>
                </a:solidFill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63E6F"/>
                </a:solidFill>
              </a:defRPr>
            </a:pPr>
            <a:r>
              <a:rPr sz="1950" b="1">
                <a:solidFill>
                  <a:srgbClr val="163E6F"/>
                </a:solidFill>
              </a:rPr>
              <a:t>CEO与院长现场指定成员，由记录人填入姓名并逐项读回确认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3FE1C-2B13-48B1-B907-34BA284B23D7}"/>
              </a:ext>
            </a:extLst>
          </p:cNvPr>
          <p:cNvGraphicFramePr/>
          <p:nvPr/>
        </p:nvGraphicFramePr>
        <p:xfrm>
          <a:off xmlns:a="http://schemas.openxmlformats.org/drawingml/2006/main" x="590550" y="1657350"/>
          <a:ext xmlns:a="http://schemas.openxmlformats.org/drawingml/2006/main" cx="11010900" cy="3733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2095500"/>
                <a:gridCol w="2095500"/>
                <a:gridCol w="2095500"/>
                <a:gridCol w="2152650"/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院方角色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主责成员姓名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部门 / 职务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备岗姓名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到位日期</a:t>
                      </a:r>
                    </a:p>
                  </a:txBody>
                  <a:tcPr marL="114300" marR="114300" marT="76200" marB="76200" anchor="ctr">
                    <a:solidFill>
                      <a:srgbClr val="163E6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PLS项目负责人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临床主诊医生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视觉质量评估角色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患者旅程管理师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手术质量与护理协调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运营与合规支持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12B"/>
                          </a:solidFill>
                        </a:rPr>
                        <a:t>____________</a:t>
                      </a:r>
                    </a:p>
                  </a:txBody>
                  <a:tcPr marL="114300" marR="114300" marT="76200" marB="76200" anchor="ctr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ECCEE-9A1B-4AEA-B2DF-5B97937E5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1010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63E6F"/>
                </a:solidFill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63E6F"/>
                </a:solidFill>
              </a:defRPr>
            </a:pPr>
            <a:r>
              <a:rPr sz="1800" b="1">
                <a:solidFill>
                  <a:srgbClr val="163E6F"/>
                </a:solidFill>
              </a:rPr>
              <a:t>院名：____________   确认人（CEO / 院长）：____________   日期：____________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16B9D8-C9FA-4549-B590-FA3349590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00750"/>
            <a:ext cx="11010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607086"/>
                </a:solidFill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607086"/>
                </a:solidFill>
              </a:defRPr>
            </a:pPr>
            <a:r>
              <a:rPr sz="1575" b="0">
                <a:solidFill>
                  <a:srgbClr val="607086"/>
                </a:solidFill>
              </a:rPr>
              <a:t>每类填写主责姓名；多人协作时注明成员分工。兼任须确认资质、工作量、服务时段及备岗。</a:t>
            </a:r>
          </a:p>
        </p:txBody>
      </p:sp>
    </p:spTree>
    <p:extLst>
      <p:ext uri="{BB962C8B-B14F-4D97-AF65-F5344CB8AC3E}">
        <p14:creationId xmlns:p14="http://schemas.microsoft.com/office/powerpoint/2010/main" val="4321268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2026-10-08T23:37:51.7580000Z</dcterms:created>
  <dcterms:modified xsi:type="dcterms:W3CDTF">2026-10-08T23:37:51.7580000Z</dcterms:modified>
</coreProperties>
</file>