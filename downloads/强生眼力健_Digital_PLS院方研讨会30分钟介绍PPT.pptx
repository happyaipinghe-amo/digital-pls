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692986d8084d22" /><Relationship Type="http://schemas.openxmlformats.org/officeDocument/2006/relationships/extended-properties" Target="/docProps/app.xml" Id="R9c9667524e524187" /><Relationship Type="http://schemas.openxmlformats.org/officeDocument/2006/relationships/officeDocument" Target="/ppt/presentation.xml" Id="R5edc8cf8e0fa4e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dab34fba9945e5"/>
  </p:sldMasterIdLst>
  <p:notesMasterIdLst>
    <p:notesMasterId xmlns:r="http://schemas.openxmlformats.org/officeDocument/2006/relationships" r:id="Re6bad6af87154871"/>
  </p:notesMasterIdLst>
  <p:sldIdLst>
    <p:sldId xmlns:r="http://schemas.openxmlformats.org/officeDocument/2006/relationships" id="256" r:id="Rbd01798ea5e64694"/>
    <p:sldId xmlns:r="http://schemas.openxmlformats.org/officeDocument/2006/relationships" id="257" r:id="R67352791fbd74b1f"/>
    <p:sldId xmlns:r="http://schemas.openxmlformats.org/officeDocument/2006/relationships" id="258" r:id="R3d29bef61f014a00"/>
    <p:sldId xmlns:r="http://schemas.openxmlformats.org/officeDocument/2006/relationships" id="259" r:id="R1d85805dd46744a9"/>
    <p:sldId xmlns:r="http://schemas.openxmlformats.org/officeDocument/2006/relationships" id="260" r:id="R8d36c6a4418c4cb8"/>
    <p:sldId xmlns:r="http://schemas.openxmlformats.org/officeDocument/2006/relationships" id="261" r:id="R280b79b8e7494b73"/>
    <p:sldId xmlns:r="http://schemas.openxmlformats.org/officeDocument/2006/relationships" id="262" r:id="Rb6a14ccbeadd4b9e"/>
    <p:sldId xmlns:r="http://schemas.openxmlformats.org/officeDocument/2006/relationships" id="263" r:id="R61d8a9072de54a11"/>
    <p:sldId xmlns:r="http://schemas.openxmlformats.org/officeDocument/2006/relationships" id="264" r:id="Rd88327c281284d7f"/>
    <p:sldId xmlns:r="http://schemas.openxmlformats.org/officeDocument/2006/relationships" id="265" r:id="Rc731a63d7da54731"/>
    <p:sldId xmlns:r="http://schemas.openxmlformats.org/officeDocument/2006/relationships" id="266" r:id="Rf4eb63b38e6744dd"/>
    <p:sldId xmlns:r="http://schemas.openxmlformats.org/officeDocument/2006/relationships" id="267" r:id="R49164063d2a9427e"/>
    <p:sldId xmlns:r="http://schemas.openxmlformats.org/officeDocument/2006/relationships" id="268" r:id="Redc1ee59bef84540"/>
    <p:sldId xmlns:r="http://schemas.openxmlformats.org/officeDocument/2006/relationships" id="269" r:id="R9533206f3dbf450c"/>
    <p:sldId xmlns:r="http://schemas.openxmlformats.org/officeDocument/2006/relationships" id="270" r:id="Rdbcbc39060ab4f37"/>
    <p:sldId xmlns:r="http://schemas.openxmlformats.org/officeDocument/2006/relationships" id="271" r:id="Raa9f7689c859447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8d16e58faf4533" /><Relationship Type="http://schemas.openxmlformats.org/officeDocument/2006/relationships/slideMaster" Target="/ppt/slideMasters/slideMaster1.xml" Id="R70dab34fba9945e5" /><Relationship Type="http://schemas.openxmlformats.org/officeDocument/2006/relationships/notesMaster" Target="/ppt/notesMasters/notesMaster1.xml" Id="Re6bad6af87154871" /><Relationship Type="http://schemas.openxmlformats.org/officeDocument/2006/relationships/presProps" Target="/ppt/presProps.xml" Id="Rff6a92c2354c490b" /><Relationship Type="http://schemas.openxmlformats.org/officeDocument/2006/relationships/tableStyles" Target="/ppt/tableStyles.xml" Id="Re61a45d3905f4fe3" /><Relationship Type="http://schemas.openxmlformats.org/officeDocument/2006/relationships/slide" Target="/ppt/slides/slide1.xml" Id="Rbd01798ea5e64694" /><Relationship Type="http://schemas.openxmlformats.org/officeDocument/2006/relationships/slide" Target="/ppt/slides/slide2.xml" Id="R67352791fbd74b1f" /><Relationship Type="http://schemas.openxmlformats.org/officeDocument/2006/relationships/slide" Target="/ppt/slides/slide3.xml" Id="R3d29bef61f014a00" /><Relationship Type="http://schemas.openxmlformats.org/officeDocument/2006/relationships/slide" Target="/ppt/slides/slide4.xml" Id="R1d85805dd46744a9" /><Relationship Type="http://schemas.openxmlformats.org/officeDocument/2006/relationships/slide" Target="/ppt/slides/slide5.xml" Id="R8d36c6a4418c4cb8" /><Relationship Type="http://schemas.openxmlformats.org/officeDocument/2006/relationships/slide" Target="/ppt/slides/slide6.xml" Id="R280b79b8e7494b73" /><Relationship Type="http://schemas.openxmlformats.org/officeDocument/2006/relationships/slide" Target="/ppt/slides/slide7.xml" Id="Rb6a14ccbeadd4b9e" /><Relationship Type="http://schemas.openxmlformats.org/officeDocument/2006/relationships/slide" Target="/ppt/slides/slide8.xml" Id="R61d8a9072de54a11" /><Relationship Type="http://schemas.openxmlformats.org/officeDocument/2006/relationships/slide" Target="/ppt/slides/slide9.xml" Id="Rd88327c281284d7f" /><Relationship Type="http://schemas.openxmlformats.org/officeDocument/2006/relationships/slide" Target="/ppt/slides/slide10.xml" Id="Rc731a63d7da54731" /><Relationship Type="http://schemas.openxmlformats.org/officeDocument/2006/relationships/slide" Target="/ppt/slides/slide11.xml" Id="Rf4eb63b38e6744dd" /><Relationship Type="http://schemas.openxmlformats.org/officeDocument/2006/relationships/slide" Target="/ppt/slides/slide12.xml" Id="R49164063d2a9427e" /><Relationship Type="http://schemas.openxmlformats.org/officeDocument/2006/relationships/slide" Target="/ppt/slides/slide13.xml" Id="Redc1ee59bef84540" /><Relationship Type="http://schemas.openxmlformats.org/officeDocument/2006/relationships/slide" Target="/ppt/slides/slide14.xml" Id="R9533206f3dbf450c" /><Relationship Type="http://schemas.openxmlformats.org/officeDocument/2006/relationships/slide" Target="/ppt/slides/slide15.xml" Id="Rdbcbc39060ab4f37" /><Relationship Type="http://schemas.openxmlformats.org/officeDocument/2006/relationships/slide" Target="/ppt/slides/slide16.xml" Id="Raa9f7689c85944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fac9cf723b4c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5be1cba7254487" /><Relationship Type="http://schemas.openxmlformats.org/officeDocument/2006/relationships/notesMaster" Target="/ppt/notesMasters/notesMaster1.xml" Id="R6a124c99f5914e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8c34fede844c90" /><Relationship Type="http://schemas.openxmlformats.org/officeDocument/2006/relationships/notesMaster" Target="/ppt/notesMasters/notesMaster1.xml" Id="R85c43ad1706443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a1b821abb94c2f" /><Relationship Type="http://schemas.openxmlformats.org/officeDocument/2006/relationships/notesMaster" Target="/ppt/notesMasters/notesMaster1.xml" Id="R7d93f260387443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4657fdd17b4ab6" /><Relationship Type="http://schemas.openxmlformats.org/officeDocument/2006/relationships/notesMaster" Target="/ppt/notesMasters/notesMaster1.xml" Id="Rf62b4c867b534e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9df466fc8a4b2d" /><Relationship Type="http://schemas.openxmlformats.org/officeDocument/2006/relationships/notesMaster" Target="/ppt/notesMasters/notesMaster1.xml" Id="R8050fd5836c540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3678b1ba5e4206" /><Relationship Type="http://schemas.openxmlformats.org/officeDocument/2006/relationships/notesMaster" Target="/ppt/notesMasters/notesMaster1.xml" Id="Rdc1839efcf6e4e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b87de0f747402f" /><Relationship Type="http://schemas.openxmlformats.org/officeDocument/2006/relationships/notesMaster" Target="/ppt/notesMasters/notesMaster1.xml" Id="R689b56dca08e4e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f8385bb4b34851" /><Relationship Type="http://schemas.openxmlformats.org/officeDocument/2006/relationships/notesMaster" Target="/ppt/notesMasters/notesMaster1.xml" Id="R3dd6e2e1ad424f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af8246a1b74011" /><Relationship Type="http://schemas.openxmlformats.org/officeDocument/2006/relationships/notesMaster" Target="/ppt/notesMasters/notesMaster1.xml" Id="R547955ba9fbe4c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2be411292e94d32" /><Relationship Type="http://schemas.openxmlformats.org/officeDocument/2006/relationships/notesMaster" Target="/ppt/notesMasters/notesMaster1.xml" Id="R06f873cd79424c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c29fa2f96946e9" /><Relationship Type="http://schemas.openxmlformats.org/officeDocument/2006/relationships/notesMaster" Target="/ppt/notesMasters/notesMaster1.xml" Id="R833cfefd47da42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65f0de88d454701" /><Relationship Type="http://schemas.openxmlformats.org/officeDocument/2006/relationships/notesMaster" Target="/ppt/notesMasters/notesMaster1.xml" Id="R8b29c6d3f4bb44a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370fc28353e423f" /><Relationship Type="http://schemas.openxmlformats.org/officeDocument/2006/relationships/notesMaster" Target="/ppt/notesMasters/notesMaster1.xml" Id="R5ed9db72096c480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7217c40d85f4e87" /><Relationship Type="http://schemas.openxmlformats.org/officeDocument/2006/relationships/notesMaster" Target="/ppt/notesMasters/notesMaster1.xml" Id="Ra8fc6ed941b04af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aad38a8695f4ecf" /><Relationship Type="http://schemas.openxmlformats.org/officeDocument/2006/relationships/notesMaster" Target="/ppt/notesMasters/notesMaster1.xml" Id="R253b5f45b09340f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12c0a20410e487a" /><Relationship Type="http://schemas.openxmlformats.org/officeDocument/2006/relationships/notesMaster" Target="/ppt/notesMasters/notesMaster1.xml" Id="Rb77b5fb0dbf540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开场建议：患者的目标已经从视力表延伸到阅读、工作、驾驶和生活。今天讨论医院如何把这些目标转化为稳定、可信、可追踪的专业服务。</a:t>
            </a:r>
          </a:p>
          <a:p xmlns:a="http://schemas.openxmlformats.org/drawingml/2006/main">
            <a:r>
              <a:t>合规提示：本次不是产品宣讲，不承诺疗效、手术量、收入或患者转化。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这页建立全场决策主线。请院长先选一个最想讨论的问题，后面的内容都会回到这五个判断。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定义时先讲中文名称和医院能力，再说明医疗边界。白内障和CLE/RLE共享能力系统，但适应证、替代方案与风险收益判断必须分别把关。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这一页不使用未经核实的市场数字。把变化讲成院方能够观察到的患者问题和组织问题。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依次解释：生活目标被记录；收益、局限、风险、费用与替代方案被说清；检查和手术标准可验证；患者可以选择、暂缓或改变方案；术后问题有人负责。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经营价值必须放在患者价值之后。不要把自费比例或某一产品使用量作为唯一成功指标。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医生价值不等于商业转化。重点是临床信心、可信团队输入和可复盘的专业成长。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这一页主动讲清眼力健的商业身份和合作边界。透明比回避更能建立管理层信任。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六大支柱是本套材料的核心骨架。可根据院方时间选择展开程度。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共同决策的完成标准不是团队讲完了，而是患者能用自己的话说出目标、局限、替代方案、费用属性和术后联系路径。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不要把基础医保路径与PLS路径讲成医疗质量高低。两条路径必须共享安全、质量和尊重患者的底线。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每一步都有明确输出。医院完成本阶段的责任、行动和证据后，再进入下一步。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前30天不追求一次铺开全部工作。先跑通一条完整路径，让团队知道如何协作。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试运行是找问题，不是展示成绩。出现医学红线、风险复核缺失或患者理解不足时，应暂停并回到临床判断。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CEO复盘顺序：本周期做了什么；是否真正应用；患者和团队发生什么变化；哪些流程需要调整；下一周期由谁完成。经营指标不能替代前三类结果。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收尾建议：邀请院方选择一个具体院区或门诊场景进入诊断，不把下一步说成采购或销量目标。</a:t>
            </a:r>
          </a:p>
          <a:p xmlns:a="http://schemas.openxmlformats.org/drawingml/2006/main">
            <a:r>
              <a:t>眼力健可支持项目框架、团队学习、工具使用与阶段复盘；医院承担项目主体责任，医生保留临床决策权，患者保留最终选择权。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df28e6674d47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d743d3133f42be" /><Relationship Type="http://schemas.openxmlformats.org/officeDocument/2006/relationships/slideLayout" Target="/ppt/slideLayouts/slideLayout1.xml" Id="Ra1cb8c8121e04f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cb8c8121e04f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99a926c904dfa" /><Relationship Type="http://schemas.openxmlformats.org/officeDocument/2006/relationships/image" Target="/ppt/media/image.png" Id="R66dca81b901d4993" /><Relationship Type="http://schemas.openxmlformats.org/officeDocument/2006/relationships/notesSlide" Target="/ppt/notesSlides/notesSlide1.xml" Id="R63cb717663cd45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488b91ec54850" /><Relationship Type="http://schemas.openxmlformats.org/officeDocument/2006/relationships/image" Target="/ppt/media/image2.png" Id="Rc710913b8c2d4513" /><Relationship Type="http://schemas.openxmlformats.org/officeDocument/2006/relationships/notesSlide" Target="/ppt/notesSlides/notesSlide2.xml" Id="R98b80205c99e40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243857e9145f5" /><Relationship Type="http://schemas.openxmlformats.org/officeDocument/2006/relationships/image" Target="/ppt/media/image3.png" Id="R50da67e711a0488a" /><Relationship Type="http://schemas.openxmlformats.org/officeDocument/2006/relationships/notesSlide" Target="/ppt/notesSlides/notesSlide3.xml" Id="Rde5d1c4e8de54a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10c9d0c1f41e9" /><Relationship Type="http://schemas.openxmlformats.org/officeDocument/2006/relationships/image" Target="/ppt/media/image4.png" Id="Rfb2a88aa7c704426" /><Relationship Type="http://schemas.openxmlformats.org/officeDocument/2006/relationships/notesSlide" Target="/ppt/notesSlides/notesSlide4.xml" Id="Rc1e87924370f40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c50f9951634406" /><Relationship Type="http://schemas.openxmlformats.org/officeDocument/2006/relationships/image" Target="/ppt/media/image5.png" Id="R96a3506c4b6f40f2" /><Relationship Type="http://schemas.openxmlformats.org/officeDocument/2006/relationships/notesSlide" Target="/ppt/notesSlides/notesSlide5.xml" Id="R5adc16d9dd224a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7cf4c03fc4485" /><Relationship Type="http://schemas.openxmlformats.org/officeDocument/2006/relationships/image" Target="/ppt/media/image6.png" Id="R680035365128470b" /><Relationship Type="http://schemas.openxmlformats.org/officeDocument/2006/relationships/notesSlide" Target="/ppt/notesSlides/notesSlide6.xml" Id="R5948e774cac042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5abc88090f4ec9" /><Relationship Type="http://schemas.openxmlformats.org/officeDocument/2006/relationships/image" Target="/ppt/media/image7.png" Id="Rd9f156f6fbbc4b28" /><Relationship Type="http://schemas.openxmlformats.org/officeDocument/2006/relationships/notesSlide" Target="/ppt/notesSlides/notesSlide7.xml" Id="R9598618dd9164e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277af55fd45db" /><Relationship Type="http://schemas.openxmlformats.org/officeDocument/2006/relationships/image" Target="/ppt/media/image8.png" Id="Re1bc4f6fe51a4b50" /><Relationship Type="http://schemas.openxmlformats.org/officeDocument/2006/relationships/notesSlide" Target="/ppt/notesSlides/notesSlide8.xml" Id="R77238a3d2e3544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b79b9983142b6" /><Relationship Type="http://schemas.openxmlformats.org/officeDocument/2006/relationships/image" Target="/ppt/media/image9.png" Id="Reab058e101f54ef7" /><Relationship Type="http://schemas.openxmlformats.org/officeDocument/2006/relationships/notesSlide" Target="/ppt/notesSlides/notesSlide9.xml" Id="Re90f4039785343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f283964124aae" /><Relationship Type="http://schemas.openxmlformats.org/officeDocument/2006/relationships/image" Target="/ppt/media/image10.png" Id="Rd88e724338b84c4f" /><Relationship Type="http://schemas.openxmlformats.org/officeDocument/2006/relationships/notesSlide" Target="/ppt/notesSlides/notesSlide10.xml" Id="R544fbf1284c749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7e924c3a04a67" /><Relationship Type="http://schemas.openxmlformats.org/officeDocument/2006/relationships/image" Target="/ppt/media/image11.png" Id="R640f0b42e2024fef" /><Relationship Type="http://schemas.openxmlformats.org/officeDocument/2006/relationships/notesSlide" Target="/ppt/notesSlides/notesSlide11.xml" Id="R55256b3069684f9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5bdc2c59e4365" /><Relationship Type="http://schemas.openxmlformats.org/officeDocument/2006/relationships/image" Target="/ppt/media/image12.png" Id="Rb9e79123b8914b45" /><Relationship Type="http://schemas.openxmlformats.org/officeDocument/2006/relationships/notesSlide" Target="/ppt/notesSlides/notesSlide12.xml" Id="R8d34ae63014a4b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9b40fca9b4e3b" /><Relationship Type="http://schemas.openxmlformats.org/officeDocument/2006/relationships/image" Target="/ppt/media/image13.png" Id="R2b395dbbd386411a" /><Relationship Type="http://schemas.openxmlformats.org/officeDocument/2006/relationships/notesSlide" Target="/ppt/notesSlides/notesSlide13.xml" Id="R3bc5917f4da84c7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79605e2ea4fdc" /><Relationship Type="http://schemas.openxmlformats.org/officeDocument/2006/relationships/image" Target="/ppt/media/image14.png" Id="R8aefa1448a5c481f" /><Relationship Type="http://schemas.openxmlformats.org/officeDocument/2006/relationships/image" Target="/ppt/media/image15.png" Id="R639575e2cd2c4196" /><Relationship Type="http://schemas.openxmlformats.org/officeDocument/2006/relationships/notesSlide" Target="/ppt/notesSlides/notesSlide14.xml" Id="R22685cf5859c4cb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06c687d4449e4" /><Relationship Type="http://schemas.openxmlformats.org/officeDocument/2006/relationships/image" Target="/ppt/media/image16.png" Id="Re20fb302ab4a4c64" /><Relationship Type="http://schemas.openxmlformats.org/officeDocument/2006/relationships/notesSlide" Target="/ppt/notesSlides/notesSlide15.xml" Id="R91d8b5da3b3549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444c6435f46cf" /><Relationship Type="http://schemas.openxmlformats.org/officeDocument/2006/relationships/image" Target="/ppt/media/image17.png" Id="Raac430eb6d134192" /><Relationship Type="http://schemas.openxmlformats.org/officeDocument/2006/relationships/notesSlide" Target="/ppt/notesSlides/notesSlide16.xml" Id="R91be9dfb2b314e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E6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3416EB-4ABF-4A2D-BF63-562B92AC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954922-EA40-4C67-A83E-D289CD84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66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55EE6-F887-48B4-9A5E-70557958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239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0" i="0">
                <a:solidFill>
                  <a:srgbClr val="C9D8E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 i="0">
                <a:solidFill>
                  <a:srgbClr val="C9D8EA"/>
                </a:solidFill>
                <a:latin typeface="Microsoft YaHei"/>
                <a:ea typeface="Microsoft YaHei"/>
                <a:cs typeface="Microsoft YaHei"/>
              </a:rPr>
              <a:t>民营眼科医院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4A0DD-0836-4452-8F7A-D9409BD2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Digital PLS 体系建设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286632-434A-4CDC-953F-943989A8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E7EF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 i="0">
                <a:solidFill>
                  <a:srgbClr val="E7EFF8"/>
                </a:solidFill>
                <a:latin typeface="Microsoft YaHei"/>
                <a:ea typeface="Microsoft YaHei"/>
                <a:cs typeface="Microsoft YaHei"/>
              </a:rPr>
              <a:t>连接患者旅程、临床协作与医院能力建设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7F493-A8C4-4A7A-9E0C-BD43F78A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6AA1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9A03CB-8ACA-48DC-97F2-EE88C0BE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C9D8E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C9D8EA"/>
                </a:solidFill>
                <a:latin typeface="Microsoft YaHei"/>
                <a:ea typeface="Microsoft YaHei"/>
                <a:cs typeface="Microsoft YaHei"/>
              </a:rPr>
              <a:t>30分钟院方研讨会介绍版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dca81b901d4993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C3398-2AC2-4197-8EBA-C79A7575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BFD0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BFD0E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</p:spTree>
    <p:extLst>
      <p:ext uri="{BB962C8B-B14F-4D97-AF65-F5344CB8AC3E}">
        <p14:creationId xmlns:p14="http://schemas.microsoft.com/office/powerpoint/2010/main" val="18240812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68115-F588-49C0-B1CE-4B011F45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3E3C6-7A4C-435E-895F-B7E5F055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CEO需要回答的五个问题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10913b8c2d4513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43253-0D2E-4287-A2F4-A628C8E1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2FD2A-E3A3-4B2F-88C8-6F66E5CB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9620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为什么做：患者和医院需要解决什么问题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凭什么做：本院的临床与团队能力是否准备好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先做什么：第一批三至五项行动如何选择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如何交付：不同岗位怎样围绕同一位患者协作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如何证明：哪些结果支持继续扩大</a:t>
            </a:r>
          </a:p>
        </p:txBody>
      </p:sp>
    </p:spTree>
    <p:extLst>
      <p:ext uri="{BB962C8B-B14F-4D97-AF65-F5344CB8AC3E}">
        <p14:creationId xmlns:p14="http://schemas.microsoft.com/office/powerpoint/2010/main" val="1124429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139BAD-03D7-4F42-93D0-05136344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839E2-CDAD-4851-AC8D-9A74AC36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PLS晶状体卓越诊疗体系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a67e711a0488a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F52C3-107B-4201-A27F-3D9E3D5C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B9DE29-F46B-45BC-BAEE-CBC4DB09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009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682"/>
          </a:bodyPr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PLS是Premium Lens Surgery的缩写，围绕白内障与屈光性透明晶体置换，包括符合适应证的老视矫正，建设全流程医院专业能力。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9B7F8-5901-4A17-8D31-B5DE5E97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990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范围覆盖患者评估、共同决策、精准手术与术后管理。它不等同于单一产品、高价IOL项目或全自费营销。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CBF912-638A-4423-B9E7-8EBCFEF4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24A"/>
          </a:solidFill>
          <a:ln xmlns:a="http://schemas.openxmlformats.org/drawingml/2006/main" w="0">
            <a:solidFill>
              <a:srgbClr val="16724A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一句话：PLS是从患者评估到术后管理的全流程医院专业能力</a:t>
            </a:r>
          </a:p>
        </p:txBody>
      </p:sp>
    </p:spTree>
    <p:extLst>
      <p:ext uri="{BB962C8B-B14F-4D97-AF65-F5344CB8AC3E}">
        <p14:creationId xmlns:p14="http://schemas.microsoft.com/office/powerpoint/2010/main" val="11600994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914EF-A770-4802-BE8D-DB2B4738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D03FFB-EB21-406E-9F45-C1DE73EC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患者目标已经走出视力表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2a88aa7c704426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395FC-7C5B-4118-A965-4D670AC5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365A33-D7BA-47AC-A40D-0215148D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9620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患者关心阅读、屏幕、夜间驾驶等真实生活任务，不只关心能否看见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方案越复杂，越需要把获益、局限、风险、费用和替代方案解释清楚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医院的竞争力取决于整条路径能否稳定交付，而不只取决于某位医生或某枚晶体</a:t>
            </a:r>
          </a:p>
        </p:txBody>
      </p:sp>
    </p:spTree>
    <p:extLst>
      <p:ext uri="{BB962C8B-B14F-4D97-AF65-F5344CB8AC3E}">
        <p14:creationId xmlns:p14="http://schemas.microsoft.com/office/powerpoint/2010/main" val="10963046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2B9DE7-8B80-4B81-BECD-3B420E80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938079-BAC9-49E5-9F83-FBF216BF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患者愿意为哪一种价值作出选择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a3506c4b6f40f2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7CC6BD-8385-4ABC-8DF7-0AF8723A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D8344A-724E-40CE-82A9-14E81D54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714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26130-BFDD-4513-85CA-9FE6735F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BE27B-83CC-45B2-B87C-36169E22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295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看见需要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6AE85-574D-45FC-90E7-51F2912C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9750"/>
            <a:ext cx="1714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40FC67-0CEA-4E15-BF59-8F521AC9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9812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67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672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30A738-2C3B-4EF4-9C30-D60E5EF3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0"/>
            <a:ext cx="1295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理解选择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4D96D6-F16C-4C0D-8B0B-EA02F4F5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1714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838814-A356-4A9E-890E-CCF6CC62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9812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77E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7E8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47A0B-3D0E-4046-99C0-999E8F26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381250"/>
            <a:ext cx="1295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相信交付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0D351B-127E-4A92-A98D-16556D94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1714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EE30F1-4A3A-425D-94DA-51475F9D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812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B23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B23A4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1486F6-C8B6-4FEC-8971-D5F0AE2C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1295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安心决定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5C0D4D-FCA7-4B67-8D49-3F9AA687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809750"/>
            <a:ext cx="1714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B525AC-D025-4F15-84FC-C30AC03C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812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E6A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E6AA1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98E431-35AE-4530-B679-B2F4A99F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81250"/>
            <a:ext cx="1295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持续负责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B56C4B-F199-4684-994A-3046675C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患者支付的不是一枚更贵的晶体，而是一套值得信任的专业价值。</a:t>
            </a:r>
          </a:p>
        </p:txBody>
      </p:sp>
    </p:spTree>
    <p:extLst>
      <p:ext uri="{BB962C8B-B14F-4D97-AF65-F5344CB8AC3E}">
        <p14:creationId xmlns:p14="http://schemas.microsoft.com/office/powerpoint/2010/main" val="11562888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C52A2-8656-4A92-B337-F5B32E98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9031A6-8F5F-4E8B-A716-9CA4BD3B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PLS给医院带来的价值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035365128470b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7036A-AD99-4AC3-8191-997F3992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6BBC8-3C37-479C-AC30-F55D3883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E6F"/>
          </a:solidFill>
          <a:ln xmlns:a="http://schemas.openxmlformats.org/drawingml/2006/main" w="0">
            <a:solidFill>
              <a:srgbClr val="163E6F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组织能力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F849F-1713-476F-8423-22B0BFB5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76375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把患者旅程、岗位交接和质量复盘沉淀为医院标准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0D462-933F-4689-A08C-16FDB8BB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24A"/>
          </a:solidFill>
          <a:ln xmlns:a="http://schemas.openxmlformats.org/drawingml/2006/main" w="0">
            <a:solidFill>
              <a:srgbClr val="16724A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品牌信任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C73318-5750-49BC-9D1D-D1EC907D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33675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让费用透明、选择自主和术后负责成为可感知的差异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26AC0-7677-4EF0-8B91-BF9C5E4B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E89"/>
          </a:solidFill>
          <a:ln xmlns:a="http://schemas.openxmlformats.org/drawingml/2006/main" w="0">
            <a:solidFill>
              <a:srgbClr val="177E89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经营健康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B37E2C-865A-4232-8FC4-9B1592B4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990975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在医疗质量与患者价值成立后，评估服务产能和合理贡献</a:t>
            </a:r>
          </a:p>
        </p:txBody>
      </p:sp>
    </p:spTree>
    <p:extLst>
      <p:ext uri="{BB962C8B-B14F-4D97-AF65-F5344CB8AC3E}">
        <p14:creationId xmlns:p14="http://schemas.microsoft.com/office/powerpoint/2010/main" val="582366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BCB99-AEBB-4003-9257-51EBCCEC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D6BD1-7699-4215-BB9D-79DBE9B4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PLS给医生和团队带来的价值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156f6fbbc4b28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02294-4DBF-4EE8-9990-B46DC834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12369-C7F7-4AE6-A585-90179159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E6F"/>
          </a:solidFill>
          <a:ln xmlns:a="http://schemas.openxmlformats.org/drawingml/2006/main" w="0">
            <a:solidFill>
              <a:srgbClr val="163E6F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DEC0C-661E-437B-A078-45EF26AF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76375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获得完整检查、需求摘要和风险复核，把时间用于临床判断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E8B73-6CEA-4929-89ED-A76153F5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24A"/>
          </a:solidFill>
          <a:ln xmlns:a="http://schemas.openxmlformats.org/drawingml/2006/main" w="0">
            <a:solidFill>
              <a:srgbClr val="16724A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346EBA-5709-4C60-92E7-70C94E0E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33675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每个岗位知道何时记录、交接、升级与随访，减少信息断点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DFBA5-69DB-4758-AF44-3F729EA0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E89"/>
          </a:solidFill>
          <a:ln xmlns:a="http://schemas.openxmlformats.org/drawingml/2006/main" w="0">
            <a:solidFill>
              <a:srgbClr val="177E89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专业成长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85902-85C4-4E97-981B-78B2F782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990975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通过病例复盘、患者报告结果和异常案例持续改进</a:t>
            </a:r>
          </a:p>
        </p:txBody>
      </p:sp>
    </p:spTree>
    <p:extLst>
      <p:ext uri="{BB962C8B-B14F-4D97-AF65-F5344CB8AC3E}">
        <p14:creationId xmlns:p14="http://schemas.microsoft.com/office/powerpoint/2010/main" val="6222910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87D4B-B380-4DD6-BBC4-DE72C53F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C98242-142E-4696-A56C-D119C868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PLS合作的三条底线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c4f6fe51a4b50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2BB6F6-91C3-4078-974B-5171CDFF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09B52-2AC5-4D6B-BC8F-741DBA72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E6F"/>
          </a:solidFill>
          <a:ln xmlns:a="http://schemas.openxmlformats.org/drawingml/2006/main" w="0">
            <a:solidFill>
              <a:srgbClr val="163E6F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医院能力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20A412-4E6D-479B-9271-0FA7548D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76375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项目结束后，流程、工具和经验留在院内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50B60B-5574-4D34-8CE7-754139D0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24A"/>
          </a:solidFill>
          <a:ln xmlns:a="http://schemas.openxmlformats.org/drawingml/2006/main" w="0">
            <a:solidFill>
              <a:srgbClr val="16724A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临床决策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B24DF-15C8-49A0-B0B2-1ED7DFF8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33675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属于医生，不以某一IOL或设备作为PLS前提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539DB6-3AA5-4D6F-B897-AB348941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E89"/>
          </a:solidFill>
          <a:ln xmlns:a="http://schemas.openxmlformats.org/drawingml/2006/main" w="0">
            <a:solidFill>
              <a:srgbClr val="177E89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患者选择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04DB7-302E-4225-B013-FE3CB611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990975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属于充分知情的患者，可以选择、暂缓或寻求第二意见</a:t>
            </a:r>
          </a:p>
        </p:txBody>
      </p:sp>
    </p:spTree>
    <p:extLst>
      <p:ext uri="{BB962C8B-B14F-4D97-AF65-F5344CB8AC3E}">
        <p14:creationId xmlns:p14="http://schemas.microsoft.com/office/powerpoint/2010/main" val="5201196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C4D683-09B9-469E-B557-5A9203E5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BE1728-BB65-4164-8662-2FA4AEC4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六大支柱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058e101f54ef7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A7CB4-477C-4278-9A11-F81CC204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D990B-CA4E-4826-8486-B9983F48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F17D7-79AD-496D-8573-173C97A9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6954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支柱一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C3DB5-7CB7-482D-8773-5EA00AEF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95500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临床卓越基础建设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36FCD-CF07-45C9-B2EF-496B1154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240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40A409-3A0B-4410-ADFA-771C841E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954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67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6724A"/>
                </a:solidFill>
                <a:latin typeface="Microsoft YaHei"/>
                <a:ea typeface="Microsoft YaHei"/>
                <a:cs typeface="Microsoft YaHei"/>
              </a:rPr>
              <a:t>支柱二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C70D21-4449-416B-940B-73847CC0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95500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MDT 团队建设与全员理念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3778E6-A5A4-449E-B66C-68F42431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9AF23C-3F71-41B1-A32B-498BF8A6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6954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77E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7E89"/>
                </a:solidFill>
                <a:latin typeface="Microsoft YaHei"/>
                <a:ea typeface="Microsoft YaHei"/>
                <a:cs typeface="Microsoft YaHei"/>
              </a:rPr>
              <a:t>支柱三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003B9C-C7A8-4D71-BD86-08FEC1E0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95500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标准化诊疗 SOP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0F0529-2F28-425F-843A-D49908E3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67125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59D990-C540-4DFE-A246-FE3CA6C0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3857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E6A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E6AA16"/>
                </a:solidFill>
                <a:latin typeface="Microsoft YaHei"/>
                <a:ea typeface="Microsoft YaHei"/>
                <a:cs typeface="Microsoft YaHei"/>
              </a:rPr>
              <a:t>支柱四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D5ADC-FCAC-4A09-94F9-E445964C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38625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患者教育与体验设计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088112-0471-45F8-8188-1D0092DD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67125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1E384F-E4CB-4FF3-9456-DC779BA5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3857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B23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B23A48"/>
                </a:solidFill>
                <a:latin typeface="Microsoft YaHei"/>
                <a:ea typeface="Microsoft YaHei"/>
                <a:cs typeface="Microsoft YaHei"/>
              </a:rPr>
              <a:t>支柱五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BA18C4-D945-4631-A80F-35F13971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38625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透明价值沟通与方案体系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61658B-E056-4347-A9E6-10AE732A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67125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278C16-DA4C-40F3-A42F-B19433DE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38575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0F2F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0F2F5D"/>
                </a:solidFill>
                <a:latin typeface="Microsoft YaHei"/>
                <a:ea typeface="Microsoft YaHei"/>
                <a:cs typeface="Microsoft YaHei"/>
              </a:rPr>
              <a:t>支柱六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7CF209-A1BD-4E31-AD75-958FCC13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38625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患者信任、口碑与转介绍体系</a:t>
            </a:r>
          </a:p>
        </p:txBody>
      </p:sp>
    </p:spTree>
    <p:extLst>
      <p:ext uri="{BB962C8B-B14F-4D97-AF65-F5344CB8AC3E}">
        <p14:creationId xmlns:p14="http://schemas.microsoft.com/office/powerpoint/2010/main" val="16234799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387A4A-45B8-4683-AEB7-E8E0C4A2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31EEF-0D28-494D-9BCC-821F8EA3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IDEAL患者共同决策五步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e724338b84c4f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1BC2E-F2A1-4757-B37F-10135F73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29F99-07C2-4A69-B32D-F344A80E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1714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9B7E57-C8FA-4B32-A00C-944C72F6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0F7C2-72C9-49DE-8015-56139809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1295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Identify 识别就诊动机与临床问题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C6BCF0-F2C6-4564-912A-AE373908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95450"/>
            <a:ext cx="1714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50819-E013-4C35-B9B4-A1916BCF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8669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67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672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68066E-38AF-406E-8547-5BD87982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266950"/>
            <a:ext cx="1295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Discover 探索生活场景、检查结果与风险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EC75C7-527E-4BAD-8588-4E0A5AD8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1714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E4049-8EBC-435E-B1FB-7EF8006E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8669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77E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7E8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298D2F-0C71-4577-86D0-E7D80A7B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66950"/>
            <a:ext cx="1295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Educate 解释可选方案、获益与局限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39B00-8290-4F1A-B6BF-2C460D34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95450"/>
            <a:ext cx="1714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F5B706-2526-41EA-8634-00CC7AA1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669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B23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B23A4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ECAE8D-402A-42F7-9857-7C722187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66950"/>
            <a:ext cx="1295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Align 确认患者理解、偏好与共识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BA7298-29DB-494E-AB0D-67F7E746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695450"/>
            <a:ext cx="1714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4D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24C50F-35D5-40E9-9570-CD933F77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669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E6A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E6AA1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87C2DA-9F38-49E3-B5C8-7793737F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66950"/>
            <a:ext cx="12954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Lifestyle Vision Plan 形成视觉计划与随访安排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43F0D5-9091-449E-94B5-3F545106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IDEAL是前台患者路径，六大支柱是后台能力系统。</a:t>
            </a:r>
          </a:p>
        </p:txBody>
      </p:sp>
    </p:spTree>
    <p:extLst>
      <p:ext uri="{BB962C8B-B14F-4D97-AF65-F5344CB8AC3E}">
        <p14:creationId xmlns:p14="http://schemas.microsoft.com/office/powerpoint/2010/main" val="17203464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A1FA88-6B55-429A-A0E5-D75A43B3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74420-38A4-4DF7-842A-79EA53F8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两条路径，共享同一条医学底线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0f0b42e2024fef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AF833-B135-4774-A1EA-941BC03A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1F7F1C-3DFA-4FB1-BA66-8008E2CB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9620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统一入口与共享基础检查，先完成医生初诊和简版视觉需求评估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基础诊疗路径守住安全复明与可及性，PLS深度评估回应适合患者的个体化视觉需求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分流依据是临床适应证、视觉需求与知情选择，不是收入、职业或支付能力</a:t>
            </a:r>
          </a:p>
        </p:txBody>
      </p:sp>
    </p:spTree>
    <p:extLst>
      <p:ext uri="{BB962C8B-B14F-4D97-AF65-F5344CB8AC3E}">
        <p14:creationId xmlns:p14="http://schemas.microsoft.com/office/powerpoint/2010/main" val="9510577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4BFC1-8907-4E68-B6D9-C0DC8618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ECB31-7F90-42DF-9E80-A186571E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一家医院的七步建设路线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79123b8914b45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93E81-6E33-4A03-AD1B-5A7B6FEA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D8725-42DB-41BD-B50C-E3ABF372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9620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认识PLS：CEO理解定位与边界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项目启动：负责人和MDT到位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基线自评：看见六大支柱差距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30天行动：选定三至五项重点任务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流程实施：各部门围绕患者完成交接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复盘改进：第30、60、90天查看证据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固化与认证：形成SOP、运行记录与持续改进</a:t>
            </a:r>
          </a:p>
        </p:txBody>
      </p:sp>
    </p:spTree>
    <p:extLst>
      <p:ext uri="{BB962C8B-B14F-4D97-AF65-F5344CB8AC3E}">
        <p14:creationId xmlns:p14="http://schemas.microsoft.com/office/powerpoint/2010/main" val="30067779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BDD65F-6302-4DF9-AC11-C5E93EE8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1BFB4F-4F4A-4C87-9B73-370069F3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第1至30天：建立最小可运行流程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395dbbd386411a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FCB72B-0BA6-40FA-9062-470ACB1C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D63D8-8ECB-45A1-AEC9-DCF5048A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9620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组建MDT并明确院方负责人，完成六大支柱基线自评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选择三至五项重点，例如患者分流、IDEAL访谈、检查清单、岗位交接或随访升级</a:t>
            </a:r>
          </a:p>
          <a:p xmlns:a="http://schemas.openxmlformats.org/drawingml/2006/main">
            <a:pPr marL="228600" indent="-101600">
              <a:spcAft>
                <a:spcPts val="1400"/>
              </a:spcAft>
              <a:buChar char="•"/>
              <a:def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每项行动写清责任人、完成时间和验收证据</a:t>
            </a:r>
          </a:p>
        </p:txBody>
      </p:sp>
    </p:spTree>
    <p:extLst>
      <p:ext uri="{BB962C8B-B14F-4D97-AF65-F5344CB8AC3E}">
        <p14:creationId xmlns:p14="http://schemas.microsoft.com/office/powerpoint/2010/main" val="5887910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198961-D928-4D58-88F4-D313C991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29F4E-F7F6-480A-A3AE-AABFCD9B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第31至60天：小规模试运行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fa1448a5c481f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BBC434-0964-40E9-A4F0-598ABEC8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575e2cd2c4196"/>
          <a:stretch xmlns:a="http://schemas.openxmlformats.org/drawingml/2006/main"/>
        </p:blipFill>
        <p:spPr>
          <a:xfrm xmlns:a="http://schemas.openxmlformats.org/drawingml/2006/main">
            <a:off x="6858000" y="2288540"/>
            <a:ext cx="3905250" cy="161417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606670-4361-4AED-B5B5-C6171E7F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5524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016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在选定门诊场景运行筛查、共同决策、手术核查与随访</a:t>
            </a:r>
          </a:p>
          <a:p xmlns:a="http://schemas.openxmlformats.org/drawingml/2006/main">
            <a:pPr marL="228600" indent="-1016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检查患者在哪里暂缓、信息在哪里断开、哪些岗位没有执行</a:t>
            </a:r>
          </a:p>
          <a:p xmlns:a="http://schemas.openxmlformats.org/drawingml/2006/main">
            <a:pPr marL="228600" indent="-1016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用真实问题修订流程、培训重点和患者沟通材料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09340-F7FB-41A5-90B7-B66987FA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67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6724A"/>
                </a:solidFill>
                <a:latin typeface="Microsoft YaHei"/>
                <a:ea typeface="Microsoft YaHei"/>
                <a:cs typeface="Microsoft YaHei"/>
              </a:rPr>
              <a:t>用真实患者路径发现断点，用每周复盘及时修正。</a:t>
            </a:r>
          </a:p>
        </p:txBody>
      </p:sp>
    </p:spTree>
    <p:extLst>
      <p:ext uri="{BB962C8B-B14F-4D97-AF65-F5344CB8AC3E}">
        <p14:creationId xmlns:p14="http://schemas.microsoft.com/office/powerpoint/2010/main" val="2912353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92C41D-82E8-4317-BC50-5C004BDC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873F1C-7133-4827-9135-41C9F6A2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63E6F"/>
                </a:solidFill>
                <a:latin typeface="Microsoft YaHei"/>
                <a:ea typeface="Microsoft YaHei"/>
                <a:cs typeface="Microsoft YaHei"/>
              </a:rPr>
              <a:t>第61至90天：复盘、固化、再决定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0fb302ab4a4c64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122AE-2E4D-4DF0-9731-2CE5FA3B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60708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B7F7E-D970-4C48-AE66-3A73E886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2875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E6F"/>
          </a:solidFill>
          <a:ln xmlns:a="http://schemas.openxmlformats.org/drawingml/2006/main" w="0">
            <a:solidFill>
              <a:srgbClr val="163E6F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医疗质量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28FD8-EB37-4C1B-95AC-3E7365D0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716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检查完整、风险复核、医生确认与手术质量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5521E6-3D9E-4C3F-80D5-EAD8D937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24A"/>
          </a:solidFill>
          <a:ln xmlns:a="http://schemas.openxmlformats.org/drawingml/2006/main" w="0">
            <a:solidFill>
              <a:srgbClr val="16724A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患者价值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ED2EE-B1C7-47F9-9725-24505386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479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需求记录、理解确认、自主选择与患者报告结果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53816-1E75-4E0F-B30C-4CD586C7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E89"/>
          </a:solidFill>
          <a:ln xmlns:a="http://schemas.openxmlformats.org/drawingml/2006/main" w="0">
            <a:solidFill>
              <a:srgbClr val="177E89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服务体验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9EA11E-867B-41D8-9DFF-6FF661D1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242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岗位交接、随访完成、投诉响应与闭环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918114-EEAD-459A-936B-DB92C5ED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经营健康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A7DFAB-E628-47FC-A2C7-E4E71120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005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患者来源、服务产能、行动落实与合理贡献</a:t>
            </a:r>
          </a:p>
        </p:txBody>
      </p:sp>
    </p:spTree>
    <p:extLst>
      <p:ext uri="{BB962C8B-B14F-4D97-AF65-F5344CB8AC3E}">
        <p14:creationId xmlns:p14="http://schemas.microsoft.com/office/powerpoint/2010/main" val="13421910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63E6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DBC769-7190-42E5-BD13-80D5120A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A16"/>
          </a:solidFill>
          <a:ln xmlns:a="http://schemas.openxmlformats.org/drawingml/2006/main" w="0">
            <a:solidFill>
              <a:srgbClr val="E6AA16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F65AC-3044-41A5-B9E3-40999F4F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 i="0">
                <a:solidFill>
                  <a:srgbClr val="E6A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E6AA16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FAD05E-82FF-410C-83E4-72733851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914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580"/>
          </a:bodyPr>
          <a:lstStyle xmlns:a="http://schemas.openxmlformats.org/drawingml/2006/main"/>
          <a:p xmlns:a="http://schemas.openxmlformats.org/drawingml/2006/main">
            <a:pPr>
              <a:defRPr sz="3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用一次共创会议，启动医院自己的 Digital PLS 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6D426-A044-4158-AF01-52686717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8763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28600" indent="-101600">
              <a:spcAft>
                <a:spcPts val="1000"/>
              </a:spcAft>
              <a:buChar char="•"/>
              <a:defRPr sz="1875">
                <a:solidFill>
                  <a:srgbClr val="E7EF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E7EFF8"/>
                </a:solidFill>
                <a:latin typeface="Microsoft YaHei"/>
                <a:ea typeface="Microsoft YaHei"/>
                <a:cs typeface="Microsoft YaHei"/>
              </a:rPr>
              <a:t>医院准备：现有患者路径、近三个月病例结构和最希望解决的问题</a:t>
            </a:r>
          </a:p>
          <a:p xmlns:a="http://schemas.openxmlformats.org/drawingml/2006/main">
            <a:pPr marL="228600" indent="-101600">
              <a:spcAft>
                <a:spcPts val="1000"/>
              </a:spcAft>
              <a:buChar char="•"/>
              <a:defRPr sz="1875">
                <a:solidFill>
                  <a:srgbClr val="E7EF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E7EFF8"/>
                </a:solidFill>
                <a:latin typeface="Microsoft YaHei"/>
                <a:ea typeface="Microsoft YaHei"/>
                <a:cs typeface="Microsoft YaHei"/>
              </a:rPr>
              <a:t>参会角色：院长、白内障与屈光负责人、视光、护理、咨询和运营</a:t>
            </a:r>
          </a:p>
          <a:p xmlns:a="http://schemas.openxmlformats.org/drawingml/2006/main">
            <a:pPr marL="228600" indent="-101600">
              <a:spcAft>
                <a:spcPts val="1000"/>
              </a:spcAft>
              <a:buChar char="•"/>
              <a:defRPr sz="1875">
                <a:solidFill>
                  <a:srgbClr val="E7EF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E7EFF8"/>
                </a:solidFill>
                <a:latin typeface="Microsoft YaHei"/>
                <a:ea typeface="Microsoft YaHei"/>
                <a:cs typeface="Microsoft YaHei"/>
              </a:rPr>
              <a:t>会议产出：一位院方负责人、三至五项优先行动、一个第30天复盘日期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534D9-DB23-494B-82CB-DD378ABC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强生眼力健PLS项目咨询专家组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c430eb6d134192"/>
          <a:srcRect xmlns:a="http://schemas.openxmlformats.org/drawingml/2006/main" l="0" t="15663" r="0" b="15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39350" y="323850"/>
            <a:ext cx="1581150" cy="361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1294C3-2F82-4574-AF51-CA82B72C1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8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 i="0">
                <a:solidFill>
                  <a:srgbClr val="BFD0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BFD0E6"/>
                </a:solidFill>
                <a:latin typeface="Microsoft YaHei"/>
                <a:ea typeface="Microsoft YaHei"/>
                <a:cs typeface="Microsoft YaHei"/>
              </a:rPr>
              <a:t>强生眼力健 PLS 项目研讨会</a:t>
            </a:r>
          </a:p>
        </p:txBody>
      </p:sp>
    </p:spTree>
    <p:extLst>
      <p:ext uri="{BB962C8B-B14F-4D97-AF65-F5344CB8AC3E}">
        <p14:creationId xmlns:p14="http://schemas.microsoft.com/office/powerpoint/2010/main" val="3819295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2026-10-08T23:47:00.2200000Z</dcterms:created>
  <dcterms:modified xsi:type="dcterms:W3CDTF">2026-10-08T23:47:00.2200000Z</dcterms:modified>
</coreProperties>
</file>