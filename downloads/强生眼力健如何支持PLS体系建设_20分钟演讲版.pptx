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e7d124a1c4e7f" /><Relationship Type="http://schemas.openxmlformats.org/officeDocument/2006/relationships/extended-properties" Target="/docProps/app.xml" Id="Rb75aea4c9cd0403d" /><Relationship Type="http://schemas.openxmlformats.org/officeDocument/2006/relationships/officeDocument" Target="/ppt/presentation.xml" Id="Ra4ac59e6e97d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2716f6ac14194"/>
  </p:sldMasterIdLst>
  <p:notesMasterIdLst>
    <p:notesMasterId xmlns:r="http://schemas.openxmlformats.org/officeDocument/2006/relationships" r:id="Rbed2683f9b16413a"/>
  </p:notesMasterIdLst>
  <p:sldIdLst>
    <p:sldId xmlns:r="http://schemas.openxmlformats.org/officeDocument/2006/relationships" id="256" r:id="Re9248583d64f46da"/>
    <p:sldId xmlns:r="http://schemas.openxmlformats.org/officeDocument/2006/relationships" id="257" r:id="Rae7d418d0074465a"/>
    <p:sldId xmlns:r="http://schemas.openxmlformats.org/officeDocument/2006/relationships" id="258" r:id="R0db471bbccb24484"/>
    <p:sldId xmlns:r="http://schemas.openxmlformats.org/officeDocument/2006/relationships" id="259" r:id="Re28dacb56a394dbd"/>
    <p:sldId xmlns:r="http://schemas.openxmlformats.org/officeDocument/2006/relationships" id="260" r:id="Rb2d0a910336946a7"/>
    <p:sldId xmlns:r="http://schemas.openxmlformats.org/officeDocument/2006/relationships" id="261" r:id="R94dda40de343496e"/>
    <p:sldId xmlns:r="http://schemas.openxmlformats.org/officeDocument/2006/relationships" id="262" r:id="R37d65d73064c4bb3"/>
    <p:sldId xmlns:r="http://schemas.openxmlformats.org/officeDocument/2006/relationships" id="263" r:id="R599a57b6695e4030"/>
    <p:sldId xmlns:r="http://schemas.openxmlformats.org/officeDocument/2006/relationships" id="264" r:id="R346e703de91b45ea"/>
    <p:sldId xmlns:r="http://schemas.openxmlformats.org/officeDocument/2006/relationships" id="265" r:id="R1b87f6e41ee44493"/>
    <p:sldId xmlns:r="http://schemas.openxmlformats.org/officeDocument/2006/relationships" id="266" r:id="R6378db25291149e6"/>
    <p:sldId xmlns:r="http://schemas.openxmlformats.org/officeDocument/2006/relationships" id="267" r:id="Rf6d94fa1f9f3432c"/>
    <p:sldId xmlns:r="http://schemas.openxmlformats.org/officeDocument/2006/relationships" id="268" r:id="R7f29044995c442be"/>
    <p:sldId xmlns:r="http://schemas.openxmlformats.org/officeDocument/2006/relationships" id="269" r:id="R578dff1cd0474ca6"/>
    <p:sldId xmlns:r="http://schemas.openxmlformats.org/officeDocument/2006/relationships" id="270" r:id="Rb9f89cff40a44704"/>
    <p:sldId xmlns:r="http://schemas.openxmlformats.org/officeDocument/2006/relationships" id="271" r:id="Rcb8d56d35dc14d54"/>
    <p:sldId xmlns:r="http://schemas.openxmlformats.org/officeDocument/2006/relationships" id="272" r:id="R2307a2db37634f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609c9f9a44bdb" /><Relationship Type="http://schemas.openxmlformats.org/officeDocument/2006/relationships/slideMaster" Target="/ppt/slideMasters/slideMaster1.xml" Id="R1032716f6ac14194" /><Relationship Type="http://schemas.openxmlformats.org/officeDocument/2006/relationships/notesMaster" Target="/ppt/notesMasters/notesMaster1.xml" Id="Rbed2683f9b16413a" /><Relationship Type="http://schemas.openxmlformats.org/officeDocument/2006/relationships/presProps" Target="/ppt/presProps.xml" Id="R00673fc9e07c4e94" /><Relationship Type="http://schemas.openxmlformats.org/officeDocument/2006/relationships/tableStyles" Target="/ppt/tableStyles.xml" Id="R009928585dec44df" /><Relationship Type="http://schemas.openxmlformats.org/officeDocument/2006/relationships/slide" Target="/ppt/slides/slide1.xml" Id="Re9248583d64f46da" /><Relationship Type="http://schemas.openxmlformats.org/officeDocument/2006/relationships/slide" Target="/ppt/slides/slide2.xml" Id="Rae7d418d0074465a" /><Relationship Type="http://schemas.openxmlformats.org/officeDocument/2006/relationships/slide" Target="/ppt/slides/slide3.xml" Id="R0db471bbccb24484" /><Relationship Type="http://schemas.openxmlformats.org/officeDocument/2006/relationships/slide" Target="/ppt/slides/slide4.xml" Id="Re28dacb56a394dbd" /><Relationship Type="http://schemas.openxmlformats.org/officeDocument/2006/relationships/slide" Target="/ppt/slides/slide5.xml" Id="Rb2d0a910336946a7" /><Relationship Type="http://schemas.openxmlformats.org/officeDocument/2006/relationships/slide" Target="/ppt/slides/slide6.xml" Id="R94dda40de343496e" /><Relationship Type="http://schemas.openxmlformats.org/officeDocument/2006/relationships/slide" Target="/ppt/slides/slide7.xml" Id="R37d65d73064c4bb3" /><Relationship Type="http://schemas.openxmlformats.org/officeDocument/2006/relationships/slide" Target="/ppt/slides/slide8.xml" Id="R599a57b6695e4030" /><Relationship Type="http://schemas.openxmlformats.org/officeDocument/2006/relationships/slide" Target="/ppt/slides/slide9.xml" Id="R346e703de91b45ea" /><Relationship Type="http://schemas.openxmlformats.org/officeDocument/2006/relationships/slide" Target="/ppt/slides/slide10.xml" Id="R1b87f6e41ee44493" /><Relationship Type="http://schemas.openxmlformats.org/officeDocument/2006/relationships/slide" Target="/ppt/slides/slide11.xml" Id="R6378db25291149e6" /><Relationship Type="http://schemas.openxmlformats.org/officeDocument/2006/relationships/slide" Target="/ppt/slides/slide12.xml" Id="Rf6d94fa1f9f3432c" /><Relationship Type="http://schemas.openxmlformats.org/officeDocument/2006/relationships/slide" Target="/ppt/slides/slide13.xml" Id="R7f29044995c442be" /><Relationship Type="http://schemas.openxmlformats.org/officeDocument/2006/relationships/slide" Target="/ppt/slides/slide14.xml" Id="R578dff1cd0474ca6" /><Relationship Type="http://schemas.openxmlformats.org/officeDocument/2006/relationships/slide" Target="/ppt/slides/slide15.xml" Id="Rb9f89cff40a44704" /><Relationship Type="http://schemas.openxmlformats.org/officeDocument/2006/relationships/slide" Target="/ppt/slides/slide16.xml" Id="Rcb8d56d35dc14d54" /><Relationship Type="http://schemas.openxmlformats.org/officeDocument/2006/relationships/slide" Target="/ppt/slides/slide17.xml" Id="R2307a2db37634f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5eb1a23f2b4e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d4428003049b0" /><Relationship Type="http://schemas.openxmlformats.org/officeDocument/2006/relationships/notesMaster" Target="/ppt/notesMasters/notesMaster1.xml" Id="R3af9f9fda5554a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b3358287bd42d1" /><Relationship Type="http://schemas.openxmlformats.org/officeDocument/2006/relationships/notesMaster" Target="/ppt/notesMasters/notesMaster1.xml" Id="Ra1eceb54fec6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88cdf28824a86" /><Relationship Type="http://schemas.openxmlformats.org/officeDocument/2006/relationships/notesMaster" Target="/ppt/notesMasters/notesMaster1.xml" Id="R668275cab750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fcbb971d4467f" /><Relationship Type="http://schemas.openxmlformats.org/officeDocument/2006/relationships/notesMaster" Target="/ppt/notesMasters/notesMaster1.xml" Id="Rc0914d978a58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22559c54a4927" /><Relationship Type="http://schemas.openxmlformats.org/officeDocument/2006/relationships/notesMaster" Target="/ppt/notesMasters/notesMaster1.xml" Id="R10b6a16bd55b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8913c80da74bd9" /><Relationship Type="http://schemas.openxmlformats.org/officeDocument/2006/relationships/notesMaster" Target="/ppt/notesMasters/notesMaster1.xml" Id="Rbb030ab6ffcc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6574c1878418a" /><Relationship Type="http://schemas.openxmlformats.org/officeDocument/2006/relationships/notesMaster" Target="/ppt/notesMasters/notesMaster1.xml" Id="Radc28a977bea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4bfdd918fe4181" /><Relationship Type="http://schemas.openxmlformats.org/officeDocument/2006/relationships/notesMaster" Target="/ppt/notesMasters/notesMaster1.xml" Id="R438d8da6406f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a3ab93ea8a4e82" /><Relationship Type="http://schemas.openxmlformats.org/officeDocument/2006/relationships/notesMaster" Target="/ppt/notesMasters/notesMaster1.xml" Id="R0aa967dffa924d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98d4245364ded" /><Relationship Type="http://schemas.openxmlformats.org/officeDocument/2006/relationships/notesMaster" Target="/ppt/notesMasters/notesMaster1.xml" Id="Rd4a3d8e0764244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42b0c8943e4349" /><Relationship Type="http://schemas.openxmlformats.org/officeDocument/2006/relationships/notesMaster" Target="/ppt/notesMasters/notesMaster1.xml" Id="R4d1d0fb9aeb145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db809295a04a85" /><Relationship Type="http://schemas.openxmlformats.org/officeDocument/2006/relationships/notesMaster" Target="/ppt/notesMasters/notesMaster1.xml" Id="R564adea8f97e4f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744106a8ce4f16" /><Relationship Type="http://schemas.openxmlformats.org/officeDocument/2006/relationships/notesMaster" Target="/ppt/notesMasters/notesMaster1.xml" Id="R83907ab4ec0641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ed22dd85d34e7f" /><Relationship Type="http://schemas.openxmlformats.org/officeDocument/2006/relationships/notesMaster" Target="/ppt/notesMasters/notesMaster1.xml" Id="R7c6e8868455a4c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80440a9bf14b84" /><Relationship Type="http://schemas.openxmlformats.org/officeDocument/2006/relationships/notesMaster" Target="/ppt/notesMasters/notesMaster1.xml" Id="R33293cfca02e45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5b8fdd741144da" /><Relationship Type="http://schemas.openxmlformats.org/officeDocument/2006/relationships/notesMaster" Target="/ppt/notesMasters/notesMaster1.xml" Id="R7e7c0a5ec55544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515db6b8ca453a" /><Relationship Type="http://schemas.openxmlformats.org/officeDocument/2006/relationships/notesMaster" Target="/ppt/notesMasters/notesMaster1.xml" Id="R22382170e31c47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这样说：今天我不准备向各位介绍一组孤立的产品，而是回答一个更重要的问题：当医院决定建设PLS体系时，强生眼力健究竟能在哪些环节提供支持？我们的答案包括三层：高质量的产品与技术平台、Professional Education专业教育团队面向多岗位的能力建设，以及Digital PLS提供的项目工具与复盘方法。所有支持都服务于医院自己的体系建设，而不是替代医院管理、医生判断或患者选择。建议用时1分钟。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和院长建立共识。很多医院并不缺一两个好产品，也不缺某一位优秀医生，真正的挑战是如何让产品、团队和流程同时工作。PLS不是采购清单，也不是一次培训活动。它要求医院能够持续识别患者需求、完成临床评估、进行充分沟通、提供高质量手术，并在术后持续负责。强生眼力健希望做的是把可用资源连接起来，帮助医院形成自己的稳定交付能力。建议用时1分20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可以把我们的支持理解成三层。第一层是产品与技术底座，包括人工晶状体、超乳平台和飞秒白内障平台；第二层是Professional Education专业教育，帮助不同岗位获得与PLS相关的专业能力；第三层是项目建设支持，用Digital PLS工作台、六大支柱、IDEAL共同决策和30/60/90天复盘把能力落实到医院日常。三层缺一不可，但顺序不能倒过来：先明确患者价值和临床标准，再选择合适的技术与产品。建议用时1分20秒。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dyssey这一页建议先讲患者任务，而不是先讲产品参数。它面向的是希望在远、中、近多种距离以及不同光线环境中获得更完整视觉体验的人群。值得进一步评估的患者，通常同时在意阅读、屏幕、驾驶和社交活动，并有较强的减少眼镜依赖意愿。但意愿不等于适应证，仍需检查眼表、角膜、黄斑、视神经和散光情况，并充分解释光晕、眩光、适应过程和其他可能取舍。具体性能表述以中国批准材料为准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eSee适合从平衡角度介绍。官方资料强调远距离和中距离视觉，并提供部分近距离功能，同时关注类单焦视觉干扰、对比度以及屈光误差耐受。沟通对象可以是电脑、仪表盘和日常中距离活动较多，希望拓展视程，同时对夜间或光学干扰较为敏感的患者。但必须明确，EDOF并不等于所有近距离任务都能脱镜，精细阅读仍可能需要眼镜。最终要结合检查结果、生活任务和患者愿意接受的取舍判断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yhance可以放在单焦路径中解释：核心仍是高质量远距离视觉，同时通过增强型单焦设计轻度延伸焦深，帮助部分日常中距离活动。值得进一步评估的人群，通常把远视力放在第一位，又希望电脑、做饭、看汽车仪表等任务更便利，并倾向减少多焦设计可能带来的取舍。必须避免把Eyhance讲成多焦或全视程晶体，近距离阅读通常仍需要眼镜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VERITAS不是按患者消费偏好来分流的产品，而是一套服务于白内障手术质量的Phaco平台。官方资料重点包括流体管理、Advanced Tubing System、Dual Pump、WHITESTAR微脉冲能量管理和人机工程设计。对院长来说，它的价值在于帮助医院建立稳定、可控、可标准化的手术平台；对病例来说，医生仍需根据核硬度、前房条件和整体风险选择模式与参数。设备必须与培训、耗材、维护和团队核查一起管理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CATALYS页不要讲成高端患者的标配。它是一套FLACS精准手术平台，官方资料强调3D OCT影像、详细扫描、精准撕囊和切口规划。适用与否首先是医学问题：医生要判断患者是否适合FLACS路径、这项技术是否能回应具体手术需求，医院也要具备病例选择、规范操作、手术室协作和术后复盘能力。CATALYS不是PLS的必要条件，更不能替代医生判断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这一页要突出Professional Education专业教育团队的特点：不是只给医生讲一次产品，而是围绕医院的PLS能力，对不同岗位设计学习内容。医生关注临床判断、手术质量和病例复盘；护士关注围术期安全、患者教育和交接；特检科关注检查标准和异常数据复核；咨询师关注需求访谈、理解确认和边界；客服关注分流、随访与问题闭环；市场部关注合规触达和患者旅程。每个岗位的权限不同，但都围绕同一位患者协作。建议用时1分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医生和护士的支持，要从知识输入走向行为标准。医生端可以覆盖PLS和DLS医学基础、患者筛选、术前风险、IOL光学与计算、双眼策略、复杂眼评估以及术后视觉质量复盘。护士端可以覆盖围术期安全、核查、患者教育、手术室协作和异常升级。培训是否有效，不能只看签到和满意度，而要看团队是否按标准完成关键动作、是否留下可追踪记录、是否能在病例会上解释自己的判断。建议用时1分20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患者体验问题并不是手术环节发生的，而是在信息传递中逐步积累的。特检科要保证数据可靠并及时复核异常；咨询师要帮助患者表达需求、理解方案和管理预期，但不能替代医生做医疗判断；客服要做好预约分流、记录、随访和问题闭环。培训中必须反复强调三条边界：不替代诊断、不承诺疗效、不替患者作决定。真正高质量的服务，是让患者在每一个岗位得到一致、准确、可追溯的信息。建议用时1分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部在PLS体系中的价值，不是简单增加活动数量，而是设计一条合规、连续的患者旅程。培训可以帮助市场团队理解PLS价值、目标患者的真实需求、内容触达到院内承接的关键节点，以及如何与客服、咨询、临床团队进行线索交接和数据复盘。特别需要说明：市场团队不能创造医疗结论，也不能依据支付能力给患者贴标签。面向患者的教育内容和活动，应由适当的内容责任方及医院审核机制把关。建议用时1分20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Digital PLS网站的定位是一张持续工作的数字工作台，而不是只用来展示项目。院方可以用六大支柱自评识别短板，用IDEAL支持共同决策，用岗位课程地图安排学习，用患者流程和交接标准减少断点，再通过30、60、90天计划明确责任、时间和验收证据。最终复盘时，先看医疗质量和患者价值，再看团队执行、服务体验与合理的经营结果。建议用时1分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不要一开始就全院铺开，而是选择一个院区、一个门诊或一条患者路径做试点。前30天完成团队组建、基线自评和三到五项优先行动；31到60天让流程真实运行，结合岗位培训和现场辅导发现断点；61到90天查看质量、患者、团队和运营证据，形成SOP和复盘机制，再决定是否扩展。强生眼力健可以支持方法、工具、教育和阶段复盘，但院方负责人必须拥有项目并推动执行。建议用时1分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院长最关心项目结束后留下什么。理想结果不是留下一叠课件，而是留下三样东西：一套可以执行的院内标准，一支能够协同的多岗位团队，以及一种持续复盘改进的机制。外部支持可以帮助医院更快起步、更少走弯路，但能力最终必须沉淀在医院内部。只有当外部支持减少后，医院仍然可以独立运行和优化，这套PLS体系才真正属于医院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最重要的边界说明。强生眼力健是一家商业公司，也合理期待合规的业务增长，但PLS不能由供应商利益定义。我们的产品、技术、教育和项目支持，必须同时创造患者、医生和医院价值。合作不要求绑定某一枚IOL或某一台设备，要尊重替代技术和医院基础白内障路径；临床决策属于医生，最终选择属于充分知情的患者。把这些边界主动讲清楚，反而更容易建立长期信任。建议用时1分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不要把下一步定义为采购会。建议邀请院方开展一次90分钟共创会，选择一个具体院区或患者场景，让院长、临床、护理、特检、咨询、客服和市场共同参加。会议产出只需要三个：对当前能力的共同判断、三到五项优先行动，以及一个第30天复盘日期。最后可以这样结束：强生眼力健愿意把产品、技术、专业教育和Digital PLS项目工具放到同一张路线图上，支持医院建立真正属于自己的PLS体系。建议用时1分钟。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36115116d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d7564bdd06442b" /><Relationship Type="http://schemas.openxmlformats.org/officeDocument/2006/relationships/slideLayout" Target="/ppt/slideLayouts/slideLayout1.xml" Id="Rf467002820dc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7002820dc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9b60780f0425f" /><Relationship Type="http://schemas.openxmlformats.org/officeDocument/2006/relationships/image" Target="/ppt/media/image.bin" Id="Re0403325730d4895" /><Relationship Type="http://schemas.openxmlformats.org/officeDocument/2006/relationships/image" Target="/ppt/media/image.png" Id="R54ae95b4a67c4734" /><Relationship Type="http://schemas.openxmlformats.org/officeDocument/2006/relationships/notesSlide" Target="/ppt/notesSlides/notesSlide1.xml" Id="Rbbda28188cb1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523f2f55b4fa4" /><Relationship Type="http://schemas.openxmlformats.org/officeDocument/2006/relationships/image" Target="/ppt/media/image2.png" Id="R56a4a9a20a514614" /><Relationship Type="http://schemas.openxmlformats.org/officeDocument/2006/relationships/notesSlide" Target="/ppt/notesSlides/notesSlide2.xml" Id="R23c52ae5b6894e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343ce14f14824" /><Relationship Type="http://schemas.openxmlformats.org/officeDocument/2006/relationships/image" Target="/ppt/media/image3.png" Id="Raebd9d0fa4ea456a" /><Relationship Type="http://schemas.openxmlformats.org/officeDocument/2006/relationships/notesSlide" Target="/ppt/notesSlides/notesSlide3.xml" Id="R24620fd65dd0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5379997d746f8" /><Relationship Type="http://schemas.openxmlformats.org/officeDocument/2006/relationships/image" Target="/ppt/media/image4.png" Id="Re36407eff5f745ce" /><Relationship Type="http://schemas.openxmlformats.org/officeDocument/2006/relationships/image" Target="/ppt/media/image2.bin" Id="R298b44b2decc404f" /><Relationship Type="http://schemas.openxmlformats.org/officeDocument/2006/relationships/notesSlide" Target="/ppt/notesSlides/notesSlide4.xml" Id="Rfb752ba1c33e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cce034ee84804" /><Relationship Type="http://schemas.openxmlformats.org/officeDocument/2006/relationships/image" Target="/ppt/media/image5.png" Id="R4a86883218004675" /><Relationship Type="http://schemas.openxmlformats.org/officeDocument/2006/relationships/image" Target="/ppt/media/image6.png" Id="R78db1ebeae3f4562" /><Relationship Type="http://schemas.openxmlformats.org/officeDocument/2006/relationships/notesSlide" Target="/ppt/notesSlides/notesSlide5.xml" Id="R397a255bc6224e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7eb363d2549c5" /><Relationship Type="http://schemas.openxmlformats.org/officeDocument/2006/relationships/image" Target="/ppt/media/image7.png" Id="R050a91ef1a6b4705" /><Relationship Type="http://schemas.openxmlformats.org/officeDocument/2006/relationships/image" Target="/ppt/media/image8.png" Id="Re59e1874a04e457c" /><Relationship Type="http://schemas.openxmlformats.org/officeDocument/2006/relationships/notesSlide" Target="/ppt/notesSlides/notesSlide6.xml" Id="R70cdf2333a16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77f3e913c4583" /><Relationship Type="http://schemas.openxmlformats.org/officeDocument/2006/relationships/image" Target="/ppt/media/image9.png" Id="R9972d90cc962479b" /><Relationship Type="http://schemas.openxmlformats.org/officeDocument/2006/relationships/image" Target="/ppt/media/image10.png" Id="Rf743294586984191" /><Relationship Type="http://schemas.openxmlformats.org/officeDocument/2006/relationships/notesSlide" Target="/ppt/notesSlides/notesSlide7.xml" Id="R964f1c66efac48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242a61540470c" /><Relationship Type="http://schemas.openxmlformats.org/officeDocument/2006/relationships/image" Target="/ppt/media/image11.png" Id="Rf79d6d2cb0194732" /><Relationship Type="http://schemas.openxmlformats.org/officeDocument/2006/relationships/image" Target="/ppt/media/image12.png" Id="R5f2529c6729a4471" /><Relationship Type="http://schemas.openxmlformats.org/officeDocument/2006/relationships/notesSlide" Target="/ppt/notesSlides/notesSlide8.xml" Id="Ra164c5feca4a49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3a8e749db4510" /><Relationship Type="http://schemas.openxmlformats.org/officeDocument/2006/relationships/image" Target="/ppt/media/image13.png" Id="R2b0327c291e147d3" /><Relationship Type="http://schemas.openxmlformats.org/officeDocument/2006/relationships/notesSlide" Target="/ppt/notesSlides/notesSlide9.xml" Id="R6a76d68f895248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1ee117ae94908" /><Relationship Type="http://schemas.openxmlformats.org/officeDocument/2006/relationships/image" Target="/ppt/media/image14.png" Id="Rb0e03a7017e043ec" /><Relationship Type="http://schemas.openxmlformats.org/officeDocument/2006/relationships/notesSlide" Target="/ppt/notesSlides/notesSlide10.xml" Id="R6e2642319e8b43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b06d1bca44e28" /><Relationship Type="http://schemas.openxmlformats.org/officeDocument/2006/relationships/image" Target="/ppt/media/image15.png" Id="R78cd872601354deb" /><Relationship Type="http://schemas.openxmlformats.org/officeDocument/2006/relationships/notesSlide" Target="/ppt/notesSlides/notesSlide11.xml" Id="R9ae1836bbc5e4d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d935f29d40eb" /><Relationship Type="http://schemas.openxmlformats.org/officeDocument/2006/relationships/image" Target="/ppt/media/image16.png" Id="R7b9b7b0172e34871" /><Relationship Type="http://schemas.openxmlformats.org/officeDocument/2006/relationships/image" Target="/ppt/media/image17.png" Id="Rf5ea2d41a07d4884" /><Relationship Type="http://schemas.openxmlformats.org/officeDocument/2006/relationships/notesSlide" Target="/ppt/notesSlides/notesSlide12.xml" Id="Rf437ed03248541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6707c1ce45da" /><Relationship Type="http://schemas.openxmlformats.org/officeDocument/2006/relationships/image" Target="/ppt/media/image18.png" Id="Rc4e9a5d3f9c649cc" /><Relationship Type="http://schemas.openxmlformats.org/officeDocument/2006/relationships/notesSlide" Target="/ppt/notesSlides/notesSlide13.xml" Id="R90f74ed631444f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7459cf7442fc" /><Relationship Type="http://schemas.openxmlformats.org/officeDocument/2006/relationships/image" Target="/ppt/media/image19.png" Id="R782b7602e47d4140" /><Relationship Type="http://schemas.openxmlformats.org/officeDocument/2006/relationships/notesSlide" Target="/ppt/notesSlides/notesSlide14.xml" Id="R5d9979f6576c45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c4f8ff7d949d1" /><Relationship Type="http://schemas.openxmlformats.org/officeDocument/2006/relationships/image" Target="/ppt/media/image20.png" Id="R46ab28549b47420d" /><Relationship Type="http://schemas.openxmlformats.org/officeDocument/2006/relationships/notesSlide" Target="/ppt/notesSlides/notesSlide15.xml" Id="R629ac5327dce4f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074fc4cd143c6" /><Relationship Type="http://schemas.openxmlformats.org/officeDocument/2006/relationships/image" Target="/ppt/media/image21.png" Id="Ra28a2680e69e44b9" /><Relationship Type="http://schemas.openxmlformats.org/officeDocument/2006/relationships/notesSlide" Target="/ppt/notesSlides/notesSlide16.xml" Id="Rfa8c4db6ea9b4a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5dfbca69d4144" /><Relationship Type="http://schemas.openxmlformats.org/officeDocument/2006/relationships/image" Target="/ppt/media/image22.png" Id="Raa9e10d66a8a4772" /><Relationship Type="http://schemas.openxmlformats.org/officeDocument/2006/relationships/notesSlide" Target="/ppt/notesSlides/notesSlide17.xml" Id="Ra2d4e5907951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C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D0953-07B5-4F0E-B8C0-9557783F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5A89A-F00C-4F90-A3C7-19B27CC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03325730d4895"/>
          <a:stretch xmlns:a="http://schemas.openxmlformats.org/drawingml/2006/main"/>
        </p:blipFill>
        <p:spPr>
          <a:xfrm xmlns:a="http://schemas.openxmlformats.org/drawingml/2006/main">
            <a:off x="7524750" y="1778717"/>
            <a:ext cx="3714750" cy="287194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DC5A9-1EF7-440D-A50F-56365878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8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8D7E6"/>
                </a:solidFill>
                <a:latin typeface="Microsoft YaHei"/>
                <a:ea typeface="Microsoft YaHei"/>
                <a:cs typeface="Microsoft YaHei"/>
              </a:rPr>
              <a:t>强生眼力健如何支持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1C61-4E81-42EC-8EF7-AF96253F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PLS体系建设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10068-2323-4EB6-9CA8-D05EEFE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产品与技术底座 · Professional Education多岗位赋能 · Digital PLS项目工具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863F8-FEF8-45E4-9414-1616C96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7E6"/>
                </a:solidFill>
                <a:latin typeface="Microsoft YaHei"/>
                <a:ea typeface="Microsoft YaHei"/>
                <a:cs typeface="Microsoft YaHei"/>
              </a:rPr>
              <a:t>院长 / CEO研讨会 · 20分钟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18382-0F70-4179-8A85-9C5ADFE8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e95b4a67c4734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3EA4B-A35A-4938-A760-57258CCB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</p:spTree>
    <p:extLst>
      <p:ext uri="{BB962C8B-B14F-4D97-AF65-F5344CB8AC3E}">
        <p14:creationId xmlns:p14="http://schemas.microsoft.com/office/powerpoint/2010/main" val="148912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7C88E-0587-41AC-B56F-CA726A6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D329A-4439-45C3-8540-5D8FF33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院长真正需要的，不是更多单点资源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4a9a20a514614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A33D0-F8EA-4F90-9D4F-24CF59B0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EDA15-D7B5-4D8A-B8E7-94159EFD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一家医院能否稳定交付PLS，取决于整条能力链是否同时成立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B431C-3EE8-4039-9B8C-1F362FBE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2E625-57C5-44F9-9A07-9668E482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C46B1-DD82-4668-B382-9EBB36C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85975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有产品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B89E1-FB01-4AC4-9520-D4ADA8F2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有适合不同患者需求的IOL与手术设备选择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1B660-210F-42A3-AA34-B2B4227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0A4D0-45E5-4F4F-8026-AC09F11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CAAF-CE93-42E3-9C4F-3334DFC7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有能力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416E4-775B-4134-9A22-05780CF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05075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医生、护士、特检、咨询、客服与市场形成共同语言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EC022-071E-4140-B821-D6D0CDDA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9FA87-1BB8-4816-95C2-EE14B80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DFFDC-2A83-4343-B3BB-E93D084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85975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有机制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289CE-24BB-4078-802D-D74D431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把筛查、共同决策、交接、随访与复盘固化为院内标准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5E9F5-C513-4DAF-AA5B-341E29FB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强生眼力健的角色：连接资源，支持医院把“拥有”转化为“能够持续交付”</a:t>
            </a:r>
          </a:p>
        </p:txBody>
      </p:sp>
    </p:spTree>
    <p:extLst>
      <p:ext uri="{BB962C8B-B14F-4D97-AF65-F5344CB8AC3E}">
        <p14:creationId xmlns:p14="http://schemas.microsoft.com/office/powerpoint/2010/main" val="334042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B7366-6AF0-429B-AEF0-BDD6F35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063FF-B4A4-4C88-9E27-6B992F3A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强生眼力健支持PLS的三层结构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d9d0fa4ea456a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13338-441B-4524-ABB0-935A6575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DCC59-146F-4932-B207-C76ECED7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1051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B1E4E-6B98-41EC-9366-F932543D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7FB0F-C8C9-481A-945B-1EC2577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产品与技术底座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4B23B-E0C7-4DC3-8E82-939E038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495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IOL组合</a:t>
            </a:r>
          </a:p>
          <a:p xmlns:a="http://schemas.openxmlformats.org/drawingml/2006/main">
            <a:pPr>
              <a:def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Phaco手术平台</a:t>
            </a:r>
          </a:p>
          <a:p xmlns:a="http://schemas.openxmlformats.org/drawingml/2006/main">
            <a:pPr>
              <a:def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FLACS飞秒平台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5D63F-5901-4F9A-85C2-698BB1D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43050"/>
            <a:ext cx="31051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75FF7-DD31-4CD6-B17F-7D39388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430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9EA2C-D63E-4C37-AB40-30B3D07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专业教育赋能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0210E-922E-40EC-8156-3774131E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495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临床与手术能力</a:t>
            </a:r>
          </a:p>
          <a:p xmlns:a="http://schemas.openxmlformats.org/drawingml/2006/main">
            <a:pPr>
              <a:def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跨岗位协同</a:t>
            </a:r>
          </a:p>
          <a:p xmlns:a="http://schemas.openxmlformats.org/drawingml/2006/main">
            <a:pPr>
              <a:def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病例与质量复盘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B84F1-65C1-43E9-8D48-D9A615C9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43050"/>
            <a:ext cx="31051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AF234-29C8-460A-A1EE-8E9EF97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430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FBFFE-0F97-4F28-98D3-30A29C4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项目建设支持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2204D-ECAF-4A1F-9F92-9BF0CDA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495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Digital PLS工作台</a:t>
            </a:r>
          </a:p>
          <a:p xmlns:a="http://schemas.openxmlformats.org/drawingml/2006/main">
            <a:pPr>
              <a:def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六大支柱与IDEAL</a:t>
            </a:r>
          </a:p>
          <a:p xmlns:a="http://schemas.openxmlformats.org/drawingml/2006/main">
            <a:pPr>
              <a:def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30/60/90天推进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5ADAB-6111-4BEA-B528-8BC7B2CC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三层支持共同指向：医疗质量、患者价值、团队能力与可持续运营</a:t>
            </a:r>
          </a:p>
        </p:txBody>
      </p:sp>
    </p:spTree>
    <p:extLst>
      <p:ext uri="{BB962C8B-B14F-4D97-AF65-F5344CB8AC3E}">
        <p14:creationId xmlns:p14="http://schemas.microsoft.com/office/powerpoint/2010/main" val="293012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6F2EF-7225-4EF1-BE86-510EFA3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73137-76E1-4665-BDF6-86DF31B9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TECNIS Odyssey：面向全程视觉需求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407eff5f745ce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32197-8EF1-4AA9-9970-F84DAC7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6EB67-BC42-4EF8-9BE2-E04EF22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全视程IOL｜从远、中、近距离到不同光线场景的整体视觉目标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1D7D8-FD80-40EF-9FDB-3D539C31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095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CE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b44b2decc404f"/>
          <a:stretch xmlns:a="http://schemas.openxmlformats.org/drawingml/2006/main"/>
        </p:blipFill>
        <p:spPr>
          <a:xfrm xmlns:a="http://schemas.openxmlformats.org/drawingml/2006/main">
            <a:off x="819150" y="1854477"/>
            <a:ext cx="3752850" cy="29013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73DEB-372C-4981-8583-DF078CCF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74E82-49D1-4F54-BBD1-2941B17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主要特色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32785-FEDD-4709-B67B-C3388EEF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605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全程视觉范围设计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关注不同光线条件下的视觉质量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优化屈光误差耐受与光学干扰表现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07D42-0DF8-4E75-ACF2-E765244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6187E-FB06-489B-8BEF-139AD3CA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值得进一步评估的患者 / 病例需求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83A1A-8673-4D6D-9F07-F7E017E2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希望减少对眼镜依赖，并重视远、中、近多场景表现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对阅读、屏幕、驾驶和社交活动均有较高视觉需求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愿意充分理解光晕、眩光、适应过程及其他取舍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66794-66A7-40F4-9F60-18F7FB56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需完成眼表、角膜、黄斑、视神经、散光及心理预期评估；不是所有患者都适合。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E4922-BAF4-4304-868F-DF0EE76F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资料来源：J&amp;J Vision Professional TECNIS Odyssey产品页；中国使用以获批说明书及公司批准材料为准。</a:t>
            </a:r>
          </a:p>
        </p:txBody>
      </p:sp>
    </p:spTree>
    <p:extLst>
      <p:ext uri="{BB962C8B-B14F-4D97-AF65-F5344CB8AC3E}">
        <p14:creationId xmlns:p14="http://schemas.microsoft.com/office/powerpoint/2010/main" val="615620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A08D9-336B-42EA-B5F5-26F90F1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AE52C-24E7-4B6B-B720-31933ED7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TECNIS PureSee：平衡视程与视觉干扰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6883218004675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ABD0D-FDFD-4CEE-ACC3-8275AEC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B7B9F-1217-4409-B70A-3031471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纯折射型EDOF IOL｜强调远、中距离，并兼顾部分近距离功能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6B2F5-56A3-4885-B0BE-7BAA52C2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095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CE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b1ebeae3f4562"/>
          <a:stretch xmlns:a="http://schemas.openxmlformats.org/drawingml/2006/main"/>
        </p:blipFill>
        <p:spPr>
          <a:xfrm xmlns:a="http://schemas.openxmlformats.org/drawingml/2006/main">
            <a:off x="819150" y="1852822"/>
            <a:ext cx="3752850" cy="290470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5BFB9-5F89-4E48-A689-86C74866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56B2E-F9DC-44EA-9B04-E6D40E3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主要特色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54B45-BBBB-47E3-8AAA-81ECCC9B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605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纯折射型EDOF设计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提供远距离和中距离视觉，并延伸部分近距离功能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官方资料强调类单焦视觉干扰表现、对比度与屈光误差耐受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23B7A-42D2-45EA-8EA5-32FD49F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AAC36-28F7-420A-935C-CAF609C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值得进一步评估的患者 / 病例需求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38B9E-0E82-4E9C-8BD3-E51D327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以远距离和电脑、仪表盘等中距离活动为主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希望拓展视程，同时高度关注夜间或光学干扰体验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能够接受精细近距离任务仍可能需要眼镜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8B579-2C66-4DA1-BDEA-FA05A59A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EDOF不等于全近距离脱镜；需结合眼部条件、生活任务和患者可接受的取舍共同决策。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A78A9-B264-41CF-8AFD-B6808EC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资料来源：J&amp;J Vision Professional TECNIS PureSee产品页；中国使用以获批说明书及公司批准材料为准。</a:t>
            </a:r>
          </a:p>
        </p:txBody>
      </p:sp>
    </p:spTree>
    <p:extLst>
      <p:ext uri="{BB962C8B-B14F-4D97-AF65-F5344CB8AC3E}">
        <p14:creationId xmlns:p14="http://schemas.microsoft.com/office/powerpoint/2010/main" val="997421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99942-3C9A-4853-B5CC-3C795DE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8997-342B-40A7-98C7-E26E8C7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TECNIS Eyhance：单焦路径下增强中距离功能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a91ef1a6b4705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B1FFF-4BB9-4904-B4F3-50701333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689BC-B82A-42BF-8B81-B305747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增强型单焦IOL｜在高质量远视力基础上轻度延伸焦深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0EE91-1275-42D0-8626-8592C3F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095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CE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e1874a04e457c"/>
          <a:stretch xmlns:a="http://schemas.openxmlformats.org/drawingml/2006/main"/>
        </p:blipFill>
        <p:spPr>
          <a:xfrm xmlns:a="http://schemas.openxmlformats.org/drawingml/2006/main">
            <a:off x="819150" y="1897856"/>
            <a:ext cx="3752850" cy="28146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BFC2D-1050-4F2D-A154-DEF00F6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9E3E1-7569-4B31-A14A-C7FD2C3D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主要特色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13632-958B-4F52-9114-D7FF5CA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605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增强型单焦设计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设计目标为较标准单焦轻度延伸焦深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关注高质量远距离视觉及功能性中距离表现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201C7-E30D-43BA-9ABA-4BC93B3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47EA9-D488-43C7-9AB6-FE005F2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值得进一步评估的患者 / 病例需求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36B94-E51D-4053-8DA3-DBDF8E1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21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以清晰远视力为核心，同时希望改善电脑、做饭、看仪表等中距离便利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倾向单焦方案，希望较少引入多焦设计相关取舍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理解近距离阅读通常仍需要眼镜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79BC0-3054-4B99-AE74-8E122A2D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不能按多焦或全视程IOL承诺脱镜；术前仍需完成生物测量、眼部筛查和目标屈光沟通。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85881-B1BA-45F3-A172-AA062DCB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资料来源：J&amp;J Vision Professional TECNIS Eyhance产品页；中国使用以获批说明书及公司批准材料为准。</a:t>
            </a:r>
          </a:p>
        </p:txBody>
      </p:sp>
    </p:spTree>
    <p:extLst>
      <p:ext uri="{BB962C8B-B14F-4D97-AF65-F5344CB8AC3E}">
        <p14:creationId xmlns:p14="http://schemas.microsoft.com/office/powerpoint/2010/main" val="1338680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12EA0-FEDC-4619-A6E8-6139398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D652A-29C9-4467-AF16-ABC9CBD9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VERITAS：稳定、可控的Phaco手术平台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2d90cc962479b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41B5B-152E-44E5-9CDB-770E157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A5BD0-7C73-4BCE-BA09-3D9AB14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rPr>
              <a:t>超声乳化系统｜以流体管理、能量管理和人机工程支持手术流程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265FE-76AC-476B-9943-042E025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095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CE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3294586984191"/>
          <a:stretch xmlns:a="http://schemas.openxmlformats.org/drawingml/2006/main"/>
        </p:blipFill>
        <p:spPr>
          <a:xfrm xmlns:a="http://schemas.openxmlformats.org/drawingml/2006/main">
            <a:off x="1065850" y="1676400"/>
            <a:ext cx="3259449" cy="3257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2E338-009E-48BF-9FCA-1FA38DC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C52"/>
          </a:solidFill>
          <a:ln xmlns:a="http://schemas.openxmlformats.org/drawingml/2006/main" w="9525">
            <a:solidFill>
              <a:srgbClr val="092C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137D8-FC8E-49CE-AB40-6A4B704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主要特色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9914D-26A2-4CBC-982F-5D91A6A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605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8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Hybrid Fluidics与Advanced Tubing System支持前房稳定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Dual Pump提供蠕动泵与文丘里泵选择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WHITESTAR微脉冲能量管理与符合手术习惯的人机工程设计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C3CE-52F3-4AD2-980D-47476C7D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61D4B-88DD-4948-94EE-E0C9FB2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值得进一步评估的患者 / 病例需求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1D59F-BA51-411C-A70D-47D6514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21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需要医生根据核硬度、前房条件及整体风险制定超乳策略的白内障病例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医院希望提升手术平台稳定性、参数管理与团队标准化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需结合医生经验、参数设置、耗材和维护保障形成完整流程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115CB-27D9-4FD3-BD65-7994EF9A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设备不直接决定患者结局；具体模式与参数由受训医生结合病例条件和说明书确定。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B070A-869E-4B59-902C-B84C1C23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资料来源：J&amp;J Vision Professional VERITAS Vision System产品页。</a:t>
            </a:r>
          </a:p>
        </p:txBody>
      </p:sp>
    </p:spTree>
    <p:extLst>
      <p:ext uri="{BB962C8B-B14F-4D97-AF65-F5344CB8AC3E}">
        <p14:creationId xmlns:p14="http://schemas.microsoft.com/office/powerpoint/2010/main" val="546746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A3BD1-94E4-4478-8765-0A00A5E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D3394-CFA5-417F-B9E0-FB86ADA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CATALYS：可视化的FLACS精准手术平台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d6d2cb0194732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D52BA-E324-4AA3-9BAC-9B22A9B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BAC8D-C1E5-4AD6-BBDD-A8BED8C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飞秒激光白内障手术系统｜以3D OCT、精准撕囊和切口规划支持手术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498AC-290F-4090-A875-82580B4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4095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CE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529c6729a4471"/>
          <a:stretch xmlns:a="http://schemas.openxmlformats.org/drawingml/2006/main"/>
        </p:blipFill>
        <p:spPr>
          <a:xfrm xmlns:a="http://schemas.openxmlformats.org/drawingml/2006/main">
            <a:off x="819150" y="1831700"/>
            <a:ext cx="3752850" cy="2946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FC9A4-50C4-44DC-A343-A26D964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EA5AC-E629-43C1-9599-EC320B30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主要特色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E327F-C8CB-4219-ADE7-09E1590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6057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3D OCT影像支持解剖结构识别与手术规划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飞秒激光支持精准撕囊与切口规划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将可视化、标准化和高端手术体验纳入团队流程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221AB-A93D-48FA-8B30-C95AE8FE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6E725-DC2A-4885-A7DB-77376749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值得进一步评估的患者 / 病例需求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F2191-C435-4A67-9096-29563A4E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经医生评估适合采用FLACS路径的白内障病例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对撕囊居中、切口规划或流程可视化有明确手术需求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医院具备病例选择、规范操作、手术室协作和术后复盘能力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4F6C3-B984-4169-BE82-B8690CD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FLACS不是PLS必要条件，也不适合所有患者；必须由医生基于适应证、风险收益与知情选择决定。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41F37-8669-4159-9D07-AF339F0B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资料来源：J&amp;J Vision Professional CATALYS Precision Laser System产品页。</a:t>
            </a:r>
          </a:p>
        </p:txBody>
      </p:sp>
    </p:spTree>
    <p:extLst>
      <p:ext uri="{BB962C8B-B14F-4D97-AF65-F5344CB8AC3E}">
        <p14:creationId xmlns:p14="http://schemas.microsoft.com/office/powerpoint/2010/main" val="1602845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BCFA4-C6E7-4711-9880-1B9646A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67CF5-90A9-499F-8CDB-EF41E74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35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Professional Education：从培训一位医生，到赋能一支团队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327c291e147d3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3E87-75A4-463B-9378-B350679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D68AD-6D0C-4463-A687-60C9CE8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PLS不是一个科室的独角戏，而是一场跨岗位的共同交付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ABFFA-B9F8-44CF-9A1D-AF99BF03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08273-8F21-45C2-B513-04D19DC8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1F7E5-CAF6-4637-BA5E-1E02343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医生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908C2-24B9-4C65-9012-0A3DA96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临床判断与手术质量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6F371-F129-46BC-8E59-4F331594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4B3F5-DC16-4A2D-9126-BF8EE09B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9E447-77E1-49A9-977D-5F278DE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护士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914A8-FF6B-4A05-A29A-A79B46C1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围术期安全与患者教育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244CE-73CF-49BD-8653-ED1D3FFC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D08A1-065D-4972-89B5-B775128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C1997-C576-47F5-BBCA-BDCB357A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特检科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E9BD9-A10A-4B99-8739-7B4DA761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检查标准与异常复核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B5584-2BFD-4D43-8575-4A2A4BA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87878-6533-45A6-9E07-1758E9A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A79DD-9794-4B3D-85DD-810A46D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咨询师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FB706-08A1-4746-8A71-4FFD127F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需求访谈与共同决策支持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4060D-ED0B-4D0E-976F-A1233C5B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5EB85-056C-48D5-90F0-AA29CAE6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21"/>
          </a:solidFill>
          <a:ln xmlns:a="http://schemas.openxmlformats.org/drawingml/2006/main" w="9525">
            <a:solidFill>
              <a:srgbClr val="D9A52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909ED-A12F-48D5-999A-5EDA18D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49ACD-ED56-40F9-A4D0-D569C0F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3860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预约分流、随访与闭环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55E0A-CEB7-4AA1-822A-C4E49B5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947BF-1B1A-45E8-BC1C-3BB8D08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C52"/>
          </a:solidFill>
          <a:ln xmlns:a="http://schemas.openxmlformats.org/drawingml/2006/main" w="9525">
            <a:solidFill>
              <a:srgbClr val="092C5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14608-12D1-4AD5-A821-FB58659B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rPr>
              <a:t>市场部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42315-23BB-46A9-B088-F26B38A4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合规触达与患者旅程衔接</a:t>
            </a:r>
          </a:p>
        </p:txBody>
      </p:sp>
    </p:spTree>
    <p:extLst>
      <p:ext uri="{BB962C8B-B14F-4D97-AF65-F5344CB8AC3E}">
        <p14:creationId xmlns:p14="http://schemas.microsoft.com/office/powerpoint/2010/main" val="1727294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55C54-0881-4B94-B5FE-6FD4BE8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318D6-B043-49C0-9679-1C220924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临床与手术团队：建立可复制的专业标准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03a7017e043ec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9B821-3405-4E5F-98C1-DBC7D4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67918-7200-494E-A173-2D02F5C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433A2-CFC2-4ACB-8472-B885CF03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0D44E-3758-42B3-97BE-E0047F4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PLS/DLS医学基础与患者筛选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术前风险识别、IOL光学与计算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双眼策略、复杂眼评估与MDT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术后视觉质量与病例复盘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5A768-8F43-4722-8986-619684C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1A3EF-EF24-4773-B345-27FD5FD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护士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A5C58-3AE5-4650-8BD3-597402B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围术期安全与核查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术前、术后患者教育与teach-back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手术室流程与设备协作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异常问题识别、交接与升级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18627-D1DC-468F-A551-333CC53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学习结果不是“听过课程”，而是能够按标准完成、留下记录、接受复盘</a:t>
            </a:r>
          </a:p>
        </p:txBody>
      </p:sp>
    </p:spTree>
    <p:extLst>
      <p:ext uri="{BB962C8B-B14F-4D97-AF65-F5344CB8AC3E}">
        <p14:creationId xmlns:p14="http://schemas.microsoft.com/office/powerpoint/2010/main" val="247143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5534E-10B7-4451-8EFD-97401F9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91A6C-448A-47B4-85AD-75A0286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特检、咨询、客服：让信息不断点，让患者听得懂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d872601354deb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05729-30B4-48B1-8ACE-962199B5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748CB-B0CF-4324-AF41-2360D90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DCA83-918E-4DD1-9A0C-72DA9F4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35BB2-BBE0-4DBF-85CA-FACDBC96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特检科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130C-1C74-489C-85A1-5A4CBFB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933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屈光检查标准 · 视觉功能与生活场景 · 异常数据复核 · 术后结果与质量控制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754A5-E747-41A6-BA37-C193AF9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B9F02-F1AE-4337-B4ED-E301ADD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69EDB-8DA3-4F1C-8329-8B836EEE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573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咨询师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26DB5-E946-4494-8335-BDABAAD7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76450"/>
            <a:ext cx="2933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IDEAL需求访谈 · 合规方案沟通 · 预期管理 · 体验沟通 · 投诉与问题协同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BCF70-0E7A-4327-995F-B80B003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800B8-F089-45BA-A094-52A2D56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C1AA4-758B-4D77-BED6-E86EB58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202BC-51BD-43EB-8194-8A34484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33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线索识别与预约分流 · 记录与隐私 · 随访 · 困难来电 · 问题闭环与漏斗复盘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326B0-B140-4F71-8775-D6C77622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共同边界：非临床岗位不替代医生诊断，不承诺疗效，不替患者作决定</a:t>
            </a:r>
          </a:p>
        </p:txBody>
      </p:sp>
    </p:spTree>
    <p:extLst>
      <p:ext uri="{BB962C8B-B14F-4D97-AF65-F5344CB8AC3E}">
        <p14:creationId xmlns:p14="http://schemas.microsoft.com/office/powerpoint/2010/main" val="337236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E31D9-7C7A-4495-A319-1979ECE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E4D3E-7EE6-47F7-9222-E2E98FCE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市场部：从“推广活动”升级为合规患者旅程设计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b7b0172e34871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1E163-D241-4250-BBA2-EE4071C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1B845-9B93-48CE-8195-E833837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85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理解PLS价值与合规表达边界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识别目标患者需求与就医场景，不以支付能力贴标签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设计从内容触达到院内承接的患者旅程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建立线索交接、数据复盘与跨部门协作机制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患者教育内容与活动由适当的内容责任方及医院审核机制把关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a2d41a07d4884"/>
          <a:srcRect xmlns:a="http://schemas.openxmlformats.org/drawingml/2006/main" l="0" t="1061" r="0" b="1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24000"/>
            <a:ext cx="31432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2850-E208-4E07-959C-6B74B84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市场不负责创造医疗结论，负责让正确的信息在正确的节点被正确承接</a:t>
            </a:r>
          </a:p>
        </p:txBody>
      </p:sp>
    </p:spTree>
    <p:extLst>
      <p:ext uri="{BB962C8B-B14F-4D97-AF65-F5344CB8AC3E}">
        <p14:creationId xmlns:p14="http://schemas.microsoft.com/office/powerpoint/2010/main" val="168038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52F03-23AE-4329-A248-7530B3F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DA8A0-DEFF-47DA-B336-D8AC94A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Digital PLS：把培训和共识变成日常工作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9a5d3f9c649cc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F0239-99C7-43CB-9D23-8B41C1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6A11-077E-4A92-94D2-16B817A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53802-C74C-4D6E-A213-0ACBE95E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5DCB3-786C-44BF-A86C-3FD9B96F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六大支柱自评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4ECE-ECD6-4EE4-9F73-6A003C1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识别医院能力短板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BED21-9D42-4A37-B6DC-E5ADC4F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668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CED09-F206-4747-8A6C-93CA7B77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66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32C58-EB5E-4823-A220-8AABFA8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IDEAL共同决策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9D2FA-C184-4B98-A7BF-574DD1AC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记录患者目标与理解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22DE3-08F4-4A11-A699-6C656CD3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C92CA-B225-4113-9460-91834E23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0EAA0-B81B-4500-9777-39265D8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岗位课程地图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F1BE2-5024-45EA-87C6-6946D953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按角色规划学习路径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B8E5A-80C9-4953-A2B4-B5D060A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22DA4-0173-4BF8-825F-8BF6B99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39145-7B2F-4E0E-846A-B9F8399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患者流程与交接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8207D-C592-45C9-91A4-436DCA65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减少信息断点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9072C-C922-44E5-80BF-48868870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A29B7-6170-447C-B183-0F675658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21"/>
          </a:solidFill>
          <a:ln xmlns:a="http://schemas.openxmlformats.org/drawingml/2006/main" w="9525">
            <a:solidFill>
              <a:srgbClr val="D9A52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E1699-1FB8-4483-A2CE-4E2AC45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521"/>
                </a:solidFill>
                <a:latin typeface="Microsoft YaHei"/>
                <a:ea typeface="Microsoft YaHei"/>
                <a:cs typeface="Microsoft YaHei"/>
              </a:rPr>
              <a:t>30/60/90天计划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09059-6200-4EEF-8201-47AC777F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明确责任、时间和证据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243BC-C2E3-42DE-8829-353F6D82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95539-6710-4772-8888-DBA1906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C52"/>
          </a:solidFill>
          <a:ln xmlns:a="http://schemas.openxmlformats.org/drawingml/2006/main" w="9525">
            <a:solidFill>
              <a:srgbClr val="092C5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251B0-74A3-4FB3-BCEF-52C47B1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C52"/>
                </a:solidFill>
                <a:latin typeface="Microsoft YaHei"/>
                <a:ea typeface="Microsoft YaHei"/>
                <a:cs typeface="Microsoft YaHei"/>
              </a:rPr>
              <a:t>质量与经营复盘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40D00-F105-4428-B7A8-26393A47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先看质量和患者价值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52637-FC2F-4F16-9291-50A9E1A5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网站是工作台，不是宣传页：用于诊断、学习、执行、留证与复盘</a:t>
            </a:r>
          </a:p>
        </p:txBody>
      </p:sp>
    </p:spTree>
    <p:extLst>
      <p:ext uri="{BB962C8B-B14F-4D97-AF65-F5344CB8AC3E}">
        <p14:creationId xmlns:p14="http://schemas.microsoft.com/office/powerpoint/2010/main" val="16704770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E56DE-D78B-4784-9847-898EDA6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C9E94-1378-46B0-BC4A-A1C1E87D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30 / 60 / 90天：从一个试点场景开始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b7602e47d4140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0F074-0A43-45D2-8273-FF54545E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D4C82-61A2-4495-B5CD-8ED6239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50609-C356-466C-B4D2-07100A5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E6B04-FE3B-443D-9594-91BC5968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0-30天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E62BB-C1C8-482A-8E38-89CD7CA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诊断与设计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DB85-468F-446F-8A62-A0ABB55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建立MDT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完成基线自评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选择3-5项优先行动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69DA2-AB77-4C19-B510-37281E0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61864-56D2-4B1D-9C84-3BFA51DF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4B13C-F4B8-47F4-8FA8-B5D976F7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31-60天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445FA-8F6D-46C7-BAB1-E027799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试运行与辅导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18EDF-ECC5-4345-9D36-6B1E16E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运行一条患者路径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岗位培训与现场辅导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发现断点并修订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3BFCC-5270-40F8-9B8D-C04C6730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C4C3E-80E9-420F-A993-EBC5DBE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9B169-2CB0-44E1-8B48-76956AE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61-90天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C5751-1248-4416-861D-BB4892B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复盘与固化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1F0CF-79F4-4E09-9D20-1C49B227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查看质量与患者结果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形成SOP和复盘机制</a:t>
            </a:r>
          </a:p>
          <a:p xmlns:a="http://schemas.openxmlformats.org/drawingml/2006/main">
            <a:pPr>
              <a:def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决定下一阶段扩展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98784-3249-4E32-A691-FD492E7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强生眼力健支持方法与资源；院方负责人推动执行；各岗位用证据证明改变</a:t>
            </a:r>
          </a:p>
        </p:txBody>
      </p:sp>
    </p:spTree>
    <p:extLst>
      <p:ext uri="{BB962C8B-B14F-4D97-AF65-F5344CB8AC3E}">
        <p14:creationId xmlns:p14="http://schemas.microsoft.com/office/powerpoint/2010/main" val="11192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93556-0605-4FE8-A394-8C4EC4BE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D4BC9-AE12-4E72-8458-4D572A6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合作成果：医院最终应该留下什么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b28549b47420d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76CC4-C5EA-4A42-9FA7-E5B6EBF5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3BC44-BF5E-49D5-9551-D193308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D32A2-81E0-4D8E-814E-FC695DC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84A52-1B5B-42EA-96B8-475D4BD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一套标准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760BD-F049-46CE-BABF-990555E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88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患者筛选、检查、共同决策、手术核查、随访和异常升级的院内标准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34644-5251-4809-AB51-DB863A13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3BD1C-F370-4817-9EDA-B3A407E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8988E-14A7-40B5-83CE-6609D9EA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09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一支团队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C4738-886A-4C87-9AC2-8E9A9690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288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各岗位知道自己的任务、边界、交接对象和质量要求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EFF37-0D82-46A1-A13C-53033AD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76375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3A6A8-D080-4A08-ACB8-297D0223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76375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52816-49CE-4A7E-839B-E372C26E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9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一种机制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EFCA3-EE90-4C53-B360-450429F8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用病例、患者反馈、质量数据和行动证据持续复盘改进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1EE79-6B58-4BDE-A248-6DF4F9F9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真正的项目成功：即使外部支持减少，医院仍然能够独立运行和持续优化</a:t>
            </a:r>
          </a:p>
        </p:txBody>
      </p:sp>
    </p:spTree>
    <p:extLst>
      <p:ext uri="{BB962C8B-B14F-4D97-AF65-F5344CB8AC3E}">
        <p14:creationId xmlns:p14="http://schemas.microsoft.com/office/powerpoint/2010/main" val="11485008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AAB24-CF31-4C68-858B-E729C00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AF26-5BD9-4AEE-8AE9-4CFD04F3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四方价值一致，PLS才能走得长久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a2680e69e44b9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3A83A-5C2B-41E4-82FB-869995F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7327-C5DD-478A-BCB4-82CBE9EA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01D7F-4733-47D9-B652-ED77709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082F-DF16-4404-8152-215C1BF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患者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CE198-39AA-405B-937E-D970D0FE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获得充分评估、清晰解释、自主选择和持续负责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D19A-B94D-47AD-A525-11118DDD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A6482-96A5-4867-8945-23110F88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9"/>
          </a:solidFill>
          <a:ln xmlns:a="http://schemas.openxmlformats.org/drawingml/2006/main" w="9525">
            <a:solidFill>
              <a:srgbClr val="123B6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B0B94-A5AF-44DC-87FC-28415AA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69"/>
                </a:solidFill>
                <a:latin typeface="Microsoft YaHei"/>
                <a:ea typeface="Microsoft YaHei"/>
                <a:cs typeface="Microsoft YaHei"/>
              </a:rPr>
              <a:t>医生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28F4C-5460-42E5-8678-6D3878C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拥有可靠数据、团队支持和持续提升的专业平台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52CAB-C4F5-49E2-9E78-98BD1D56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A1FAD-47E6-488D-9564-9CA504A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9525">
            <a:solidFill>
              <a:srgbClr val="0D7C7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63469-7C50-4140-AF30-3032DC5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B"/>
                </a:solidFill>
                <a:latin typeface="Microsoft YaHei"/>
                <a:ea typeface="Microsoft YaHei"/>
                <a:cs typeface="Microsoft YaHei"/>
              </a:rPr>
              <a:t>医院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0EF83-E22C-4817-BF46-07FACA1A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形成可复制的质量、服务、人才与品牌能力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A0C35-86D3-42BE-9BBA-3D857E3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CD2D9-EA18-497A-B9BD-9C83B9C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55"/>
          </a:solidFill>
          <a:ln xmlns:a="http://schemas.openxmlformats.org/drawingml/2006/main" w="9525">
            <a:solidFill>
              <a:srgbClr val="287A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CBD98-E388-4DD2-8DD8-68AE4A4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55"/>
                </a:solidFill>
                <a:latin typeface="Microsoft YaHei"/>
                <a:ea typeface="Microsoft YaHei"/>
                <a:cs typeface="Microsoft YaHei"/>
              </a:rPr>
              <a:t>强生眼力健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952DD-9913-4222-B9FE-13C6717C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2D"/>
                </a:solidFill>
                <a:latin typeface="Microsoft YaHei"/>
                <a:ea typeface="Microsoft YaHei"/>
                <a:cs typeface="Microsoft YaHei"/>
              </a:rPr>
              <a:t>以合规的产品、技术、教育和项目支持创造长期合作价值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B8E92-F1C2-45D8-BD67-62007EB6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共同原则：产品不绑定 · 技术有替代 · 临床由医生决策 · 患者充分知情选择</a:t>
            </a:r>
          </a:p>
        </p:txBody>
      </p:sp>
    </p:spTree>
    <p:extLst>
      <p:ext uri="{BB962C8B-B14F-4D97-AF65-F5344CB8AC3E}">
        <p14:creationId xmlns:p14="http://schemas.microsoft.com/office/powerpoint/2010/main" val="729814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2C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EF758-CCAE-405D-A53B-A37562BD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A3FBF-E238-4877-A2E8-4EE3E97A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e10d66a8a4772"/>
          <a:stretch xmlns:a="http://schemas.openxmlformats.org/drawingml/2006/main"/>
        </p:blipFill>
        <p:spPr>
          <a:xfrm xmlns:a="http://schemas.openxmlformats.org/drawingml/2006/main">
            <a:off x="10229850" y="304800"/>
            <a:ext cx="12001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E2820-A903-4B0F-9033-A046028A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rPr>
              <a:t>强生眼力健 | PLS体系建设支持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A6D3A-3609-4938-A2C4-DF2BEA5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6D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6D6E5"/>
                </a:solidFill>
                <a:latin typeface="Microsoft YaHei"/>
                <a:ea typeface="Microsoft YaHei"/>
                <a:cs typeface="Microsoft YaHei"/>
              </a:rPr>
              <a:t>下一步：用一次90分钟共创会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AF89D-A7D1-4CB1-BC68-1F625DD4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形成医院自己的PLS支持路线图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98F34-5D2F-40F8-B461-8F45DEA3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rPr>
              <a:t>选择一个试点院区或患者场景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rPr>
              <a:t>邀请院长、临床、护理、特检、咨询、客服与市场共同参加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E7EEF5"/>
                </a:solidFill>
                <a:latin typeface="Microsoft YaHei"/>
                <a:ea typeface="Microsoft YaHei"/>
                <a:cs typeface="Microsoft YaHei"/>
              </a:rPr>
              <a:t>现场完成基线判断、三至五项优先行动和第30天复盘日期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91F8D-5135-4173-96D3-EEA23DD4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强生眼力健PLS项目咨询专家组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F160B-6B98-4BB7-B688-EE880C5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ED0E1"/>
                </a:solidFill>
                <a:latin typeface="Microsoft YaHei"/>
                <a:ea typeface="Microsoft YaHei"/>
                <a:cs typeface="Microsoft YaHei"/>
              </a:rPr>
              <a:t>产品与技术支持 | Professional Education | Digital PLS项目工具</a:t>
            </a:r>
          </a:p>
        </p:txBody>
      </p:sp>
    </p:spTree>
    <p:extLst>
      <p:ext uri="{BB962C8B-B14F-4D97-AF65-F5344CB8AC3E}">
        <p14:creationId xmlns:p14="http://schemas.microsoft.com/office/powerpoint/2010/main" val="753889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2026-10-09T00:21:55.8210000Z</dcterms:created>
  <dcterms:modified xsi:type="dcterms:W3CDTF">2026-10-09T00:21:55.8210000Z</dcterms:modified>
</coreProperties>
</file>